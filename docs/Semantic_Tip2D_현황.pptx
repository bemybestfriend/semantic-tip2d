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0836CA26-0751-4BCD-9635-BD398A18E843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10/30/26</a:t>
            </a:fld>
            <a:endParaRPr b="0" lang="en-US" sz="1200" spc="-1" strike="noStrike">
              <a:latin typeface="Noto Serif CJK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0ABFEAB-62AC-42B8-A6CC-0459514B3A3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jpe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f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640080" y="594360"/>
            <a:ext cx="475452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ea0be"/>
                </a:solidFill>
                <a:latin typeface="NanumSquare"/>
              </a:rPr>
              <a:t>SEMANTIC TIP2D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640080" y="1143000"/>
            <a:ext cx="6491880" cy="110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1" lang="ko-KR" sz="3400" spc="-1" strike="noStrike">
                <a:solidFill>
                  <a:srgbClr val="ffffff"/>
                </a:solidFill>
                <a:latin typeface="NanumSquare"/>
              </a:rPr>
              <a:t>스테레오 영상 기반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ko-KR" sz="3400" spc="-1" strike="noStrike">
                <a:solidFill>
                  <a:srgbClr val="ffffff"/>
                </a:solidFill>
                <a:latin typeface="NanumSquare"/>
              </a:rPr>
              <a:t>핀셋 팁 </a:t>
            </a:r>
            <a:r>
              <a:rPr b="1" lang="en-US" sz="3400" spc="-1" strike="noStrike">
                <a:solidFill>
                  <a:srgbClr val="ffffff"/>
                </a:solidFill>
                <a:latin typeface="NanumSquare"/>
              </a:rPr>
              <a:t>Semantic Keypoint </a:t>
            </a:r>
            <a:r>
              <a:rPr b="1" lang="ko-KR" sz="3400" spc="-1" strike="noStrike">
                <a:solidFill>
                  <a:srgbClr val="ffffff"/>
                </a:solidFill>
                <a:latin typeface="NanumSquare"/>
              </a:rPr>
              <a:t>측정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658440" y="2880360"/>
            <a:ext cx="64918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ccd9e6"/>
                </a:solidFill>
                <a:latin typeface="NanumSquare"/>
              </a:rPr>
              <a:t>VETUS · Pink tweezer | </a:t>
            </a:r>
            <a:r>
              <a:rPr b="0" lang="ko-KR" sz="1700" spc="-1" strike="noStrike">
                <a:solidFill>
                  <a:srgbClr val="ccd9e6"/>
                </a:solidFill>
                <a:latin typeface="NanumSquare"/>
              </a:rPr>
              <a:t>구현 개요</a:t>
            </a:r>
            <a:r>
              <a:rPr b="0" lang="en-US" sz="1700" spc="-1" strike="noStrike">
                <a:solidFill>
                  <a:srgbClr val="ccd9e6"/>
                </a:solidFill>
                <a:latin typeface="NanumSquare"/>
              </a:rPr>
              <a:t>, </a:t>
            </a:r>
            <a:r>
              <a:rPr b="0" lang="ko-KR" sz="1700" spc="-1" strike="noStrike">
                <a:solidFill>
                  <a:srgbClr val="ccd9e6"/>
                </a:solidFill>
                <a:latin typeface="NanumSquare"/>
              </a:rPr>
              <a:t>알고리즘 로직</a:t>
            </a:r>
            <a:r>
              <a:rPr b="0" lang="en-US" sz="1700" spc="-1" strike="noStrike">
                <a:solidFill>
                  <a:srgbClr val="ccd9e6"/>
                </a:solidFill>
                <a:latin typeface="NanumSquare"/>
              </a:rPr>
              <a:t>, </a:t>
            </a:r>
            <a:r>
              <a:rPr b="0" lang="ko-KR" sz="1700" spc="-1" strike="noStrike">
                <a:solidFill>
                  <a:srgbClr val="ccd9e6"/>
                </a:solidFill>
                <a:latin typeface="NanumSquare"/>
              </a:rPr>
              <a:t>속도와 평가 결과</a:t>
            </a:r>
            <a:endParaRPr b="0" lang="en-US" sz="1700" spc="-1" strike="noStrike">
              <a:latin typeface="Arial"/>
            </a:endParaRPr>
          </a:p>
        </p:txBody>
      </p:sp>
      <p:pic>
        <p:nvPicPr>
          <p:cNvPr id="44" name="Picture 4" descr="result_2d.jpg"/>
          <p:cNvPicPr/>
          <p:nvPr/>
        </p:nvPicPr>
        <p:blipFill>
          <a:blip r:embed="rId1"/>
          <a:stretch/>
        </p:blipFill>
        <p:spPr>
          <a:xfrm>
            <a:off x="7223760" y="1908000"/>
            <a:ext cx="4388760" cy="2081160"/>
          </a:xfrm>
          <a:prstGeom prst="rect">
            <a:avLst/>
          </a:prstGeom>
          <a:ln>
            <a:noFill/>
          </a:ln>
        </p:spPr>
      </p:pic>
      <p:sp>
        <p:nvSpPr>
          <p:cNvPr id="45" name="CustomShape 4"/>
          <p:cNvSpPr/>
          <p:nvPr/>
        </p:nvSpPr>
        <p:spPr>
          <a:xfrm>
            <a:off x="640080" y="4937760"/>
            <a:ext cx="10926720" cy="1142640"/>
          </a:xfrm>
          <a:prstGeom prst="roundRect">
            <a:avLst>
              <a:gd name="adj" fmla="val 16667"/>
            </a:avLst>
          </a:prstGeom>
          <a:solidFill>
            <a:srgbClr val="1b2d44"/>
          </a:solidFill>
          <a:ln>
            <a:solidFill>
              <a:srgbClr val="1b2d44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CustomShape 5"/>
          <p:cNvSpPr/>
          <p:nvPr/>
        </p:nvSpPr>
        <p:spPr>
          <a:xfrm>
            <a:off x="914400" y="5180040"/>
            <a:ext cx="103780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pPr algn="ctr">
              <a:lnSpc>
                <a:spcPct val="100000"/>
              </a:lnSpc>
            </a:pPr>
            <a:r>
              <a:rPr b="1" lang="ko-KR" sz="1800" spc="-1" strike="noStrike">
                <a:solidFill>
                  <a:srgbClr val="ffffff"/>
                </a:solidFill>
                <a:latin typeface="NanumSquare"/>
              </a:rPr>
              <a:t>핵심</a:t>
            </a:r>
            <a:r>
              <a:rPr b="1" lang="en-US" sz="1800" spc="-1" strike="noStrike">
                <a:solidFill>
                  <a:srgbClr val="ffffff"/>
                </a:solidFill>
                <a:latin typeface="NanumSquare"/>
              </a:rPr>
              <a:t>: pose</a:t>
            </a:r>
            <a:r>
              <a:rPr b="1" lang="ko-KR" sz="1800" spc="-1" strike="noStrike">
                <a:solidFill>
                  <a:srgbClr val="ffffff"/>
                </a:solidFill>
                <a:latin typeface="NanumSquare"/>
              </a:rPr>
              <a:t>는 초기 위치만 제공하고</a:t>
            </a:r>
            <a:r>
              <a:rPr b="1" lang="en-US" sz="1800" spc="-1" strike="noStrike">
                <a:solidFill>
                  <a:srgbClr val="ffffff"/>
                </a:solidFill>
                <a:latin typeface="NanumSquare"/>
              </a:rPr>
              <a:t>, </a:t>
            </a:r>
            <a:r>
              <a:rPr b="1" lang="ko-KR" sz="1800" spc="-1" strike="noStrike">
                <a:solidFill>
                  <a:srgbClr val="ffffff"/>
                </a:solidFill>
                <a:latin typeface="NanumSquare"/>
              </a:rPr>
              <a:t>최종 </a:t>
            </a:r>
            <a:r>
              <a:rPr b="1" lang="en-US" sz="1800" spc="-1" strike="noStrike">
                <a:solidFill>
                  <a:srgbClr val="ffffff"/>
                </a:solidFill>
                <a:latin typeface="NanumSquare"/>
              </a:rPr>
              <a:t>keypoint</a:t>
            </a:r>
            <a:r>
              <a:rPr b="1" lang="ko-KR" sz="1800" spc="-1" strike="noStrike">
                <a:solidFill>
                  <a:srgbClr val="ffffff"/>
                </a:solidFill>
                <a:latin typeface="NanumSquare"/>
              </a:rPr>
              <a:t>는 영상 </a:t>
            </a:r>
            <a:r>
              <a:rPr b="1" lang="en-US" sz="1800" spc="-1" strike="noStrike">
                <a:solidFill>
                  <a:srgbClr val="ffffff"/>
                </a:solidFill>
                <a:latin typeface="NanumSquare"/>
              </a:rPr>
              <a:t>edge·</a:t>
            </a:r>
            <a:r>
              <a:rPr b="1" lang="ko-KR" sz="1800" spc="-1" strike="noStrike">
                <a:solidFill>
                  <a:srgbClr val="ffffff"/>
                </a:solidFill>
                <a:latin typeface="NanumSquare"/>
              </a:rPr>
              <a:t>밝기</a:t>
            </a:r>
            <a:r>
              <a:rPr b="1" lang="en-US" sz="1800" spc="-1" strike="noStrike">
                <a:solidFill>
                  <a:srgbClr val="ffffff"/>
                </a:solidFill>
                <a:latin typeface="NanumSquare"/>
              </a:rPr>
              <a:t>·stereo correspondence</a:t>
            </a:r>
            <a:r>
              <a:rPr b="1" lang="ko-KR" sz="1800" spc="-1" strike="noStrike">
                <a:solidFill>
                  <a:srgbClr val="ffffff"/>
                </a:solidFill>
                <a:latin typeface="NanumSquare"/>
              </a:rPr>
              <a:t>로 다시 측정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01  OVERVIEW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한 장으로 보는 구현 결과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49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교수님께 먼저 전달할 핵심 메시지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CustomShape 5"/>
          <p:cNvSpPr/>
          <p:nvPr/>
        </p:nvSpPr>
        <p:spPr>
          <a:xfrm>
            <a:off x="594360" y="1691640"/>
            <a:ext cx="35658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CustomShape 6"/>
          <p:cNvSpPr/>
          <p:nvPr/>
        </p:nvSpPr>
        <p:spPr>
          <a:xfrm>
            <a:off x="594360" y="1691640"/>
            <a:ext cx="72720" cy="182844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CustomShape 7"/>
          <p:cNvSpPr/>
          <p:nvPr/>
        </p:nvSpPr>
        <p:spPr>
          <a:xfrm>
            <a:off x="795600" y="1837800"/>
            <a:ext cx="3245760" cy="36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900" spc="-1" strike="noStrike">
                <a:solidFill>
                  <a:srgbClr val="2772bf"/>
                </a:solidFill>
                <a:latin typeface="NanumSquare"/>
              </a:rPr>
              <a:t>무엇을 구현했나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4" name="CustomShape 8"/>
          <p:cNvSpPr/>
          <p:nvPr/>
        </p:nvSpPr>
        <p:spPr>
          <a:xfrm>
            <a:off x="795600" y="2258640"/>
            <a:ext cx="3218400" cy="75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3DGS semantic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정의를 실제 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L/R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영상의 팁 끝점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코팅 경계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방향으로 변환하는 영상 기반 측정 알고리즘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5" name="CustomShape 9"/>
          <p:cNvSpPr/>
          <p:nvPr/>
        </p:nvSpPr>
        <p:spPr>
          <a:xfrm>
            <a:off x="4316040" y="1691640"/>
            <a:ext cx="35658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10"/>
          <p:cNvSpPr/>
          <p:nvPr/>
        </p:nvSpPr>
        <p:spPr>
          <a:xfrm>
            <a:off x="4316040" y="1691640"/>
            <a:ext cx="72720" cy="182844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CustomShape 11"/>
          <p:cNvSpPr/>
          <p:nvPr/>
        </p:nvSpPr>
        <p:spPr>
          <a:xfrm>
            <a:off x="4517280" y="1837800"/>
            <a:ext cx="3245760" cy="36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900" spc="-1" strike="noStrike">
                <a:solidFill>
                  <a:srgbClr val="ee902b"/>
                </a:solidFill>
                <a:latin typeface="NanumSquare"/>
              </a:rPr>
              <a:t>왜 필요한가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8" name="CustomShape 12"/>
          <p:cNvSpPr/>
          <p:nvPr/>
        </p:nvSpPr>
        <p:spPr>
          <a:xfrm>
            <a:off x="4517280" y="2258640"/>
            <a:ext cx="3218400" cy="98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6D pose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는 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2D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초기 위치에는 유용하지만 깊이 오차가 큼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. pose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를 그대로 쓰지 않고 영상과 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stereo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로 재측정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9" name="CustomShape 13"/>
          <p:cNvSpPr/>
          <p:nvPr/>
        </p:nvSpPr>
        <p:spPr>
          <a:xfrm>
            <a:off x="8037720" y="1691640"/>
            <a:ext cx="35658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14"/>
          <p:cNvSpPr/>
          <p:nvPr/>
        </p:nvSpPr>
        <p:spPr>
          <a:xfrm>
            <a:off x="8037720" y="1691640"/>
            <a:ext cx="72720" cy="182844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15"/>
          <p:cNvSpPr/>
          <p:nvPr/>
        </p:nvSpPr>
        <p:spPr>
          <a:xfrm>
            <a:off x="8238600" y="1837800"/>
            <a:ext cx="3245760" cy="36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900" spc="-1" strike="noStrike">
                <a:solidFill>
                  <a:srgbClr val="349669"/>
                </a:solidFill>
                <a:latin typeface="NanumSquare"/>
              </a:rPr>
              <a:t>현재 출력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2" name="CustomShape 16"/>
          <p:cNvSpPr/>
          <p:nvPr/>
        </p:nvSpPr>
        <p:spPr>
          <a:xfrm>
            <a:off x="8238600" y="2258640"/>
            <a:ext cx="3218400" cy="75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현재 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semantic-tip2d: L/R 2D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끝점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, upper/lower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코팅점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,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윤곽 직선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,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코팅→끝 방향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" name="CustomShape 17"/>
          <p:cNvSpPr/>
          <p:nvPr/>
        </p:nvSpPr>
        <p:spPr>
          <a:xfrm>
            <a:off x="822960" y="4069080"/>
            <a:ext cx="201132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2900" spc="-1" strike="noStrike">
                <a:solidFill>
                  <a:srgbClr val="2772bf"/>
                </a:solidFill>
                <a:latin typeface="NanumSquare"/>
              </a:rPr>
              <a:t>47 ms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64" name="CustomShape 18"/>
          <p:cNvSpPr/>
          <p:nvPr/>
        </p:nvSpPr>
        <p:spPr>
          <a:xfrm>
            <a:off x="822960" y="4572000"/>
            <a:ext cx="201132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VETUS / GPU </a:t>
            </a:r>
            <a:r>
              <a:rPr b="0" lang="ko-KR" sz="1200" spc="-1" strike="noStrike">
                <a:solidFill>
                  <a:srgbClr val="5c6978"/>
                </a:solidFill>
                <a:latin typeface="NanumSquare"/>
              </a:rPr>
              <a:t>정렬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" name="CustomShape 19"/>
          <p:cNvSpPr/>
          <p:nvPr/>
        </p:nvSpPr>
        <p:spPr>
          <a:xfrm>
            <a:off x="3063240" y="4069080"/>
            <a:ext cx="201132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2900" spc="-1" strike="noStrike">
                <a:solidFill>
                  <a:srgbClr val="cd497e"/>
                </a:solidFill>
                <a:latin typeface="NanumSquare"/>
              </a:rPr>
              <a:t>36 ms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66" name="CustomShape 20"/>
          <p:cNvSpPr/>
          <p:nvPr/>
        </p:nvSpPr>
        <p:spPr>
          <a:xfrm>
            <a:off x="3063240" y="4572000"/>
            <a:ext cx="201132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Pink / GPU </a:t>
            </a:r>
            <a:r>
              <a:rPr b="0" lang="ko-KR" sz="1200" spc="-1" strike="noStrike">
                <a:solidFill>
                  <a:srgbClr val="5c6978"/>
                </a:solidFill>
                <a:latin typeface="NanumSquare"/>
              </a:rPr>
              <a:t>정렬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" name="CustomShape 21"/>
          <p:cNvSpPr/>
          <p:nvPr/>
        </p:nvSpPr>
        <p:spPr>
          <a:xfrm>
            <a:off x="5623560" y="4069080"/>
            <a:ext cx="237708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2900" spc="-1" strike="noStrike">
                <a:solidFill>
                  <a:srgbClr val="349669"/>
                </a:solidFill>
                <a:latin typeface="NanumSquare"/>
              </a:rPr>
              <a:t>0.97 px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68" name="CustomShape 22"/>
          <p:cNvSpPr/>
          <p:nvPr/>
        </p:nvSpPr>
        <p:spPr>
          <a:xfrm>
            <a:off x="5623560" y="4572000"/>
            <a:ext cx="237708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VETUS endpoint–GT </a:t>
            </a:r>
            <a:r>
              <a:rPr b="0" lang="ko-KR" sz="1200" spc="-1" strike="noStrike">
                <a:solidFill>
                  <a:srgbClr val="5c6978"/>
                </a:solidFill>
                <a:latin typeface="NanumSquare"/>
              </a:rPr>
              <a:t>중앙값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9" name="CustomShape 23"/>
          <p:cNvSpPr/>
          <p:nvPr/>
        </p:nvSpPr>
        <p:spPr>
          <a:xfrm>
            <a:off x="8366760" y="4069080"/>
            <a:ext cx="237708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2900" spc="-1" strike="noStrike">
                <a:solidFill>
                  <a:srgbClr val="349669"/>
                </a:solidFill>
                <a:latin typeface="NanumSquare"/>
              </a:rPr>
              <a:t>0.81 px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70" name="CustomShape 24"/>
          <p:cNvSpPr/>
          <p:nvPr/>
        </p:nvSpPr>
        <p:spPr>
          <a:xfrm>
            <a:off x="8366760" y="4572000"/>
            <a:ext cx="237708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Pink </a:t>
            </a:r>
            <a:r>
              <a:rPr b="0" lang="ko-KR" sz="1200" spc="-1" strike="noStrike">
                <a:solidFill>
                  <a:srgbClr val="5c6978"/>
                </a:solidFill>
                <a:latin typeface="NanumSquare"/>
              </a:rPr>
              <a:t>정상 </a:t>
            </a: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pose endpoint–GT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" name="CustomShape 25"/>
          <p:cNvSpPr/>
          <p:nvPr/>
        </p:nvSpPr>
        <p:spPr>
          <a:xfrm>
            <a:off x="713160" y="5806440"/>
            <a:ext cx="1078956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ca4343"/>
                </a:solidFill>
                <a:latin typeface="NanumSquare"/>
              </a:rPr>
              <a:t>GT: </a:t>
            </a:r>
            <a:r>
              <a:rPr b="1" lang="ko-KR" sz="1100" spc="-1" strike="noStrike">
                <a:solidFill>
                  <a:srgbClr val="ca4343"/>
                </a:solidFill>
                <a:latin typeface="NanumSquare"/>
              </a:rPr>
              <a:t>사람이 </a:t>
            </a:r>
            <a:r>
              <a:rPr b="1" lang="en-US" sz="1100" spc="-1" strike="noStrike">
                <a:solidFill>
                  <a:srgbClr val="ca4343"/>
                </a:solidFill>
                <a:latin typeface="NanumSquare"/>
              </a:rPr>
              <a:t>L/R </a:t>
            </a:r>
            <a:r>
              <a:rPr b="1" lang="ko-KR" sz="1100" spc="-1" strike="noStrike">
                <a:solidFill>
                  <a:srgbClr val="ca4343"/>
                </a:solidFill>
                <a:latin typeface="NanumSquare"/>
              </a:rPr>
              <a:t>영상에 클릭한 팁 끝점 </a:t>
            </a:r>
            <a:r>
              <a:rPr b="1" lang="en-US" sz="1100" spc="-1" strike="noStrike">
                <a:solidFill>
                  <a:srgbClr val="ca4343"/>
                </a:solidFill>
                <a:latin typeface="NanumSquare"/>
              </a:rPr>
              <a:t>· </a:t>
            </a:r>
            <a:r>
              <a:rPr b="1" lang="ko-KR" sz="1100" spc="-1" strike="noStrike">
                <a:solidFill>
                  <a:srgbClr val="ca4343"/>
                </a:solidFill>
                <a:latin typeface="NanumSquare"/>
              </a:rPr>
              <a:t>오차</a:t>
            </a:r>
            <a:r>
              <a:rPr b="1" lang="en-US" sz="1100" spc="-1" strike="noStrike">
                <a:solidFill>
                  <a:srgbClr val="ca4343"/>
                </a:solidFill>
                <a:latin typeface="NanumSquare"/>
              </a:rPr>
              <a:t>: </a:t>
            </a:r>
            <a:r>
              <a:rPr b="1" lang="ko-KR" sz="1100" spc="-1" strike="noStrike">
                <a:solidFill>
                  <a:srgbClr val="ca4343"/>
                </a:solidFill>
                <a:latin typeface="NanumSquare"/>
              </a:rPr>
              <a:t>검출 </a:t>
            </a:r>
            <a:r>
              <a:rPr b="1" lang="en-US" sz="1100" spc="-1" strike="noStrike">
                <a:solidFill>
                  <a:srgbClr val="ca4343"/>
                </a:solidFill>
                <a:latin typeface="NanumSquare"/>
              </a:rPr>
              <a:t>endpoint</a:t>
            </a:r>
            <a:r>
              <a:rPr b="1" lang="ko-KR" sz="1100" spc="-1" strike="noStrike">
                <a:solidFill>
                  <a:srgbClr val="ca4343"/>
                </a:solidFill>
                <a:latin typeface="NanumSquare"/>
              </a:rPr>
              <a:t>와 클릭 </a:t>
            </a:r>
            <a:r>
              <a:rPr b="1" lang="en-US" sz="1100" spc="-1" strike="noStrike">
                <a:solidFill>
                  <a:srgbClr val="ca4343"/>
                </a:solidFill>
                <a:latin typeface="NanumSquare"/>
              </a:rPr>
              <a:t>GT </a:t>
            </a:r>
            <a:r>
              <a:rPr b="1" lang="ko-KR" sz="1100" spc="-1" strike="noStrike">
                <a:solidFill>
                  <a:srgbClr val="ca4343"/>
                </a:solidFill>
                <a:latin typeface="NanumSquare"/>
              </a:rPr>
              <a:t>사이의 </a:t>
            </a:r>
            <a:r>
              <a:rPr b="1" lang="en-US" sz="1100" spc="-1" strike="noStrike">
                <a:solidFill>
                  <a:srgbClr val="ca4343"/>
                </a:solidFill>
                <a:latin typeface="NanumSquare"/>
              </a:rPr>
              <a:t>2D pixel distance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CustomShape 26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02  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4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전체 시스템에서의 위치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5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오프라인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semantic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정의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+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온라인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pose +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팁 정밀 측정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6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5"/>
          <p:cNvSpPr/>
          <p:nvPr/>
        </p:nvSpPr>
        <p:spPr>
          <a:xfrm>
            <a:off x="594360" y="2057400"/>
            <a:ext cx="1554120" cy="1005480"/>
          </a:xfrm>
          <a:prstGeom prst="roundRect">
            <a:avLst>
              <a:gd name="adj" fmla="val 16667"/>
            </a:avLst>
          </a:prstGeom>
          <a:solidFill>
            <a:srgbClr val="121f31"/>
          </a:solidFill>
          <a:ln>
            <a:solidFill>
              <a:srgbClr val="121f31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6"/>
          <p:cNvSpPr/>
          <p:nvPr/>
        </p:nvSpPr>
        <p:spPr>
          <a:xfrm>
            <a:off x="667440" y="2295000"/>
            <a:ext cx="1407960" cy="53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[</a:t>
            </a:r>
            <a:r>
              <a:rPr b="1" lang="ko-KR" sz="1500" spc="-1" strike="noStrike">
                <a:solidFill>
                  <a:srgbClr val="ffffff"/>
                </a:solidFill>
                <a:latin typeface="NanumSquare"/>
              </a:rPr>
              <a:t>오프라인</a:t>
            </a: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]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3DGS </a:t>
            </a:r>
            <a:r>
              <a:rPr b="1" lang="ko-KR" sz="1500" spc="-1" strike="noStrike">
                <a:solidFill>
                  <a:srgbClr val="ffffff"/>
                </a:solidFill>
                <a:latin typeface="NanumSquare"/>
              </a:rPr>
              <a:t>모델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9" name="Line 7"/>
          <p:cNvSpPr/>
          <p:nvPr/>
        </p:nvSpPr>
        <p:spPr>
          <a:xfrm>
            <a:off x="2148840" y="2560320"/>
            <a:ext cx="594360" cy="0"/>
          </a:xfrm>
          <a:prstGeom prst="line">
            <a:avLst/>
          </a:prstGeom>
          <a:ln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0" name="CustomShape 8"/>
          <p:cNvSpPr/>
          <p:nvPr/>
        </p:nvSpPr>
        <p:spPr>
          <a:xfrm>
            <a:off x="2743200" y="2057400"/>
            <a:ext cx="2011320" cy="1005480"/>
          </a:xfrm>
          <a:prstGeom prst="roundRect">
            <a:avLst>
              <a:gd name="adj" fmla="val 16667"/>
            </a:avLst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CustomShape 9"/>
          <p:cNvSpPr/>
          <p:nvPr/>
        </p:nvSpPr>
        <p:spPr>
          <a:xfrm>
            <a:off x="2816280" y="2226240"/>
            <a:ext cx="1865160" cy="66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NanumSquare"/>
              </a:rPr>
              <a:t>42-view annotation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NanumSquare"/>
              </a:rPr>
              <a:t>+ multi-view triangulation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2" name="Line 10"/>
          <p:cNvSpPr/>
          <p:nvPr/>
        </p:nvSpPr>
        <p:spPr>
          <a:xfrm>
            <a:off x="4754880" y="2560320"/>
            <a:ext cx="594360" cy="0"/>
          </a:xfrm>
          <a:prstGeom prst="line">
            <a:avLst/>
          </a:prstGeom>
          <a:ln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3" name="CustomShape 11"/>
          <p:cNvSpPr/>
          <p:nvPr/>
        </p:nvSpPr>
        <p:spPr>
          <a:xfrm>
            <a:off x="5349240" y="2057400"/>
            <a:ext cx="1828440" cy="1005480"/>
          </a:xfrm>
          <a:prstGeom prst="roundRect">
            <a:avLst>
              <a:gd name="adj" fmla="val 16667"/>
            </a:avLst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12"/>
          <p:cNvSpPr/>
          <p:nvPr/>
        </p:nvSpPr>
        <p:spPr>
          <a:xfrm>
            <a:off x="5422320" y="2295000"/>
            <a:ext cx="1682280" cy="53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semantic axis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+ 6-point profile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5" name="CustomShape 13"/>
          <p:cNvSpPr/>
          <p:nvPr/>
        </p:nvSpPr>
        <p:spPr>
          <a:xfrm>
            <a:off x="594360" y="4069080"/>
            <a:ext cx="1554120" cy="1005480"/>
          </a:xfrm>
          <a:prstGeom prst="roundRect">
            <a:avLst>
              <a:gd name="adj" fmla="val 16667"/>
            </a:avLst>
          </a:prstGeom>
          <a:solidFill>
            <a:srgbClr val="121f31"/>
          </a:solidFill>
          <a:ln>
            <a:solidFill>
              <a:srgbClr val="121f31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14"/>
          <p:cNvSpPr/>
          <p:nvPr/>
        </p:nvSpPr>
        <p:spPr>
          <a:xfrm>
            <a:off x="667440" y="4306680"/>
            <a:ext cx="1407960" cy="53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[</a:t>
            </a:r>
            <a:r>
              <a:rPr b="1" lang="ko-KR" sz="1500" spc="-1" strike="noStrike">
                <a:solidFill>
                  <a:srgbClr val="ffffff"/>
                </a:solidFill>
                <a:latin typeface="NanumSquare"/>
              </a:rPr>
              <a:t>온라인</a:t>
            </a: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]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L/R </a:t>
            </a:r>
            <a:r>
              <a:rPr b="1" lang="ko-KR" sz="1500" spc="-1" strike="noStrike">
                <a:solidFill>
                  <a:srgbClr val="ffffff"/>
                </a:solidFill>
                <a:latin typeface="NanumSquare"/>
              </a:rPr>
              <a:t>영상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7" name="Line 15"/>
          <p:cNvSpPr/>
          <p:nvPr/>
        </p:nvSpPr>
        <p:spPr>
          <a:xfrm>
            <a:off x="2148840" y="4572000"/>
            <a:ext cx="594360" cy="0"/>
          </a:xfrm>
          <a:prstGeom prst="line">
            <a:avLst/>
          </a:prstGeom>
          <a:ln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8" name="CustomShape 16"/>
          <p:cNvSpPr/>
          <p:nvPr/>
        </p:nvSpPr>
        <p:spPr>
          <a:xfrm>
            <a:off x="2743200" y="4069080"/>
            <a:ext cx="2011320" cy="1005480"/>
          </a:xfrm>
          <a:prstGeom prst="roundRect">
            <a:avLst>
              <a:gd name="adj" fmla="val 16667"/>
            </a:avLst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CustomShape 17"/>
          <p:cNvSpPr/>
          <p:nvPr/>
        </p:nvSpPr>
        <p:spPr>
          <a:xfrm>
            <a:off x="2816280" y="4352400"/>
            <a:ext cx="1865160" cy="43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YOLO · SAM2 · DINO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EDM · PnP · refine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" name="Line 18"/>
          <p:cNvSpPr/>
          <p:nvPr/>
        </p:nvSpPr>
        <p:spPr>
          <a:xfrm>
            <a:off x="4754880" y="4572000"/>
            <a:ext cx="594360" cy="0"/>
          </a:xfrm>
          <a:prstGeom prst="line">
            <a:avLst/>
          </a:prstGeom>
          <a:ln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" name="CustomShape 19"/>
          <p:cNvSpPr/>
          <p:nvPr/>
        </p:nvSpPr>
        <p:spPr>
          <a:xfrm>
            <a:off x="5349240" y="4069080"/>
            <a:ext cx="1828440" cy="1005480"/>
          </a:xfrm>
          <a:prstGeom prst="roundRect">
            <a:avLst>
              <a:gd name="adj" fmla="val 16667"/>
            </a:avLst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CustomShape 20"/>
          <p:cNvSpPr/>
          <p:nvPr/>
        </p:nvSpPr>
        <p:spPr>
          <a:xfrm>
            <a:off x="5422320" y="4306680"/>
            <a:ext cx="1682280" cy="53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pose R,t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+ SAM mask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3" name="Line 21"/>
          <p:cNvSpPr/>
          <p:nvPr/>
        </p:nvSpPr>
        <p:spPr>
          <a:xfrm>
            <a:off x="7178040" y="2743200"/>
            <a:ext cx="731520" cy="822960"/>
          </a:xfrm>
          <a:prstGeom prst="line">
            <a:avLst/>
          </a:prstGeom>
          <a:ln>
            <a:solidFill>
              <a:srgbClr val="349669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" name="Line 22"/>
          <p:cNvSpPr/>
          <p:nvPr/>
        </p:nvSpPr>
        <p:spPr>
          <a:xfrm flipV="1">
            <a:off x="7178040" y="3840480"/>
            <a:ext cx="731520" cy="731520"/>
          </a:xfrm>
          <a:prstGeom prst="line">
            <a:avLst/>
          </a:prstGeom>
          <a:ln>
            <a:solidFill>
              <a:srgbClr val="349669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5" name="CustomShape 23"/>
          <p:cNvSpPr/>
          <p:nvPr/>
        </p:nvSpPr>
        <p:spPr>
          <a:xfrm>
            <a:off x="7909560" y="3063240"/>
            <a:ext cx="1828440" cy="1234080"/>
          </a:xfrm>
          <a:prstGeom prst="roundRect">
            <a:avLst>
              <a:gd name="adj" fmla="val 16667"/>
            </a:avLst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CustomShape 24"/>
          <p:cNvSpPr/>
          <p:nvPr/>
        </p:nvSpPr>
        <p:spPr>
          <a:xfrm>
            <a:off x="7982640" y="3414960"/>
            <a:ext cx="1682280" cy="53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semantic-tip2d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ko-KR" sz="1500" spc="-1" strike="noStrike">
                <a:solidFill>
                  <a:srgbClr val="ffffff"/>
                </a:solidFill>
                <a:latin typeface="NanumSquare"/>
              </a:rPr>
              <a:t>영상에서 팁 재측정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7" name="Line 25"/>
          <p:cNvSpPr/>
          <p:nvPr/>
        </p:nvSpPr>
        <p:spPr>
          <a:xfrm>
            <a:off x="9738360" y="3684960"/>
            <a:ext cx="502920" cy="0"/>
          </a:xfrm>
          <a:prstGeom prst="line">
            <a:avLst/>
          </a:prstGeom>
          <a:ln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" name="CustomShape 26"/>
          <p:cNvSpPr/>
          <p:nvPr/>
        </p:nvSpPr>
        <p:spPr>
          <a:xfrm>
            <a:off x="10241280" y="3182040"/>
            <a:ext cx="1325520" cy="1005480"/>
          </a:xfrm>
          <a:prstGeom prst="roundRect">
            <a:avLst>
              <a:gd name="adj" fmla="val 16667"/>
            </a:avLst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CustomShape 27"/>
          <p:cNvSpPr/>
          <p:nvPr/>
        </p:nvSpPr>
        <p:spPr>
          <a:xfrm>
            <a:off x="10314360" y="3419640"/>
            <a:ext cx="1179360" cy="53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L/R 2D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keypoints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0" name="CustomShape 28"/>
          <p:cNvSpPr/>
          <p:nvPr/>
        </p:nvSpPr>
        <p:spPr>
          <a:xfrm>
            <a:off x="1508760" y="5715000"/>
            <a:ext cx="91436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700" spc="-1" strike="noStrike">
                <a:solidFill>
                  <a:srgbClr val="121f31"/>
                </a:solidFill>
                <a:latin typeface="NanumSquare"/>
              </a:rPr>
              <a:t>pose</a:t>
            </a:r>
            <a:r>
              <a:rPr b="1" lang="ko-KR" sz="1700" spc="-1" strike="noStrike">
                <a:solidFill>
                  <a:srgbClr val="121f31"/>
                </a:solidFill>
                <a:latin typeface="NanumSquare"/>
              </a:rPr>
              <a:t>는 ‘어디쯤</a:t>
            </a:r>
            <a:r>
              <a:rPr b="1" lang="en-US" sz="1700" spc="-1" strike="noStrike">
                <a:solidFill>
                  <a:srgbClr val="121f31"/>
                </a:solidFill>
                <a:latin typeface="NanumSquare"/>
              </a:rPr>
              <a:t>/</a:t>
            </a:r>
            <a:r>
              <a:rPr b="1" lang="ko-KR" sz="1700" spc="-1" strike="noStrike">
                <a:solidFill>
                  <a:srgbClr val="121f31"/>
                </a:solidFill>
                <a:latin typeface="NanumSquare"/>
              </a:rPr>
              <a:t>어느 방향’인지 알려주는 </a:t>
            </a:r>
            <a:r>
              <a:rPr b="1" lang="en-US" sz="1700" spc="-1" strike="noStrike">
                <a:solidFill>
                  <a:srgbClr val="121f31"/>
                </a:solidFill>
                <a:latin typeface="NanumSquare"/>
              </a:rPr>
              <a:t>prior</a:t>
            </a:r>
            <a:r>
              <a:rPr b="1" lang="ko-KR" sz="1700" spc="-1" strike="noStrike">
                <a:solidFill>
                  <a:srgbClr val="121f31"/>
                </a:solidFill>
                <a:latin typeface="NanumSquare"/>
              </a:rPr>
              <a:t>이며</a:t>
            </a:r>
            <a:r>
              <a:rPr b="1" lang="en-US" sz="1700" spc="-1" strike="noStrike">
                <a:solidFill>
                  <a:srgbClr val="121f31"/>
                </a:solidFill>
                <a:latin typeface="NanumSquare"/>
              </a:rPr>
              <a:t>, </a:t>
            </a:r>
            <a:r>
              <a:rPr b="1" lang="ko-KR" sz="1700" spc="-1" strike="noStrike">
                <a:solidFill>
                  <a:srgbClr val="121f31"/>
                </a:solidFill>
                <a:latin typeface="NanumSquare"/>
              </a:rPr>
              <a:t>최종 위치는 영상에서 다시 잰다</a:t>
            </a:r>
            <a:r>
              <a:rPr b="1" lang="en-US" sz="1700" spc="-1" strike="noStrike">
                <a:solidFill>
                  <a:srgbClr val="121f31"/>
                </a:solidFill>
                <a:latin typeface="NanumSquare"/>
              </a:rPr>
              <a:t>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01" name="CustomShape 29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2" name="CustomShape 30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근거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README.md, semantic_keypoint_generation/docs/PIPELINE_MANUAL_KO.md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03  CONTRIBUTION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제가 구현한 범위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05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물체 등록 도구부터 스테레오 팁 측정 및 검증까지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6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CustomShape 5"/>
          <p:cNvSpPr/>
          <p:nvPr/>
        </p:nvSpPr>
        <p:spPr>
          <a:xfrm>
            <a:off x="685800" y="1691640"/>
            <a:ext cx="342864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CustomShape 6"/>
          <p:cNvSpPr/>
          <p:nvPr/>
        </p:nvSpPr>
        <p:spPr>
          <a:xfrm>
            <a:off x="685800" y="1691640"/>
            <a:ext cx="72720" cy="406872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ustomShape 7"/>
          <p:cNvSpPr/>
          <p:nvPr/>
        </p:nvSpPr>
        <p:spPr>
          <a:xfrm>
            <a:off x="887040" y="1837800"/>
            <a:ext cx="3108600" cy="37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772bf"/>
                </a:solidFill>
                <a:latin typeface="NanumSquare"/>
              </a:rPr>
              <a:t>A. Semantic </a:t>
            </a:r>
            <a:r>
              <a:rPr b="1" lang="ko-KR" sz="2000" spc="-1" strike="noStrike">
                <a:solidFill>
                  <a:srgbClr val="2772bf"/>
                </a:solidFill>
                <a:latin typeface="NanumSquare"/>
              </a:rPr>
              <a:t>정의 생성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0" name="CustomShape 8"/>
          <p:cNvSpPr/>
          <p:nvPr/>
        </p:nvSpPr>
        <p:spPr>
          <a:xfrm>
            <a:off x="887040" y="2258640"/>
            <a:ext cx="3081240" cy="153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3DGS 42-view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렌더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base/end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다중 시점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annotation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RANSAC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삼각측량과</a:t>
            </a:r>
            <a:br/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   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reprojection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검증</a:t>
            </a:r>
            <a:endParaRPr b="0" lang="en-US" sz="1600" spc="-1" strike="noStrike">
              <a:latin typeface="Arial"/>
            </a:endParaRPr>
          </a:p>
          <a:p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결과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: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팁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6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점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profile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생성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1" name="CustomShape 9"/>
          <p:cNvSpPr/>
          <p:nvPr/>
        </p:nvSpPr>
        <p:spPr>
          <a:xfrm>
            <a:off x="4380120" y="1691640"/>
            <a:ext cx="342864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CustomShape 10"/>
          <p:cNvSpPr/>
          <p:nvPr/>
        </p:nvSpPr>
        <p:spPr>
          <a:xfrm>
            <a:off x="4380120" y="1691640"/>
            <a:ext cx="72720" cy="406872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CustomShape 11"/>
          <p:cNvSpPr/>
          <p:nvPr/>
        </p:nvSpPr>
        <p:spPr>
          <a:xfrm>
            <a:off x="4581000" y="1837800"/>
            <a:ext cx="3108600" cy="37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349669"/>
                </a:solidFill>
                <a:latin typeface="NanumSquare"/>
              </a:rPr>
              <a:t>B. </a:t>
            </a:r>
            <a:r>
              <a:rPr b="1" lang="ko-KR" sz="2000" spc="-1" strike="noStrike">
                <a:solidFill>
                  <a:srgbClr val="349669"/>
                </a:solidFill>
                <a:latin typeface="NanumSquare"/>
              </a:rPr>
              <a:t>영상 기반 팁 측정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4" name="CustomShape 12"/>
          <p:cNvSpPr/>
          <p:nvPr/>
        </p:nvSpPr>
        <p:spPr>
          <a:xfrm>
            <a:off x="4581000" y="2258640"/>
            <a:ext cx="3081240" cy="153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GS alpha silhouette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생성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방향성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chamfer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정렬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 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gradient/robust line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기반 윤곽       재검출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Canny chain + ridge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끝점   검출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밝기 기반 코팅 경계 검출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5" name="CustomShape 13"/>
          <p:cNvSpPr/>
          <p:nvPr/>
        </p:nvSpPr>
        <p:spPr>
          <a:xfrm>
            <a:off x="8074080" y="1691640"/>
            <a:ext cx="342864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CustomShape 14"/>
          <p:cNvSpPr/>
          <p:nvPr/>
        </p:nvSpPr>
        <p:spPr>
          <a:xfrm>
            <a:off x="8074080" y="1691640"/>
            <a:ext cx="72720" cy="406872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CustomShape 15"/>
          <p:cNvSpPr/>
          <p:nvPr/>
        </p:nvSpPr>
        <p:spPr>
          <a:xfrm>
            <a:off x="8275320" y="1837800"/>
            <a:ext cx="3108600" cy="37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ee902b"/>
                </a:solidFill>
                <a:latin typeface="NanumSquare"/>
              </a:rPr>
              <a:t>C. Stereo·</a:t>
            </a:r>
            <a:r>
              <a:rPr b="1" lang="ko-KR" sz="2000" spc="-1" strike="noStrike">
                <a:solidFill>
                  <a:srgbClr val="ee902b"/>
                </a:solidFill>
                <a:latin typeface="NanumSquare"/>
              </a:rPr>
              <a:t>최적화</a:t>
            </a:r>
            <a:r>
              <a:rPr b="1" lang="en-US" sz="2000" spc="-1" strike="noStrike">
                <a:solidFill>
                  <a:srgbClr val="ee902b"/>
                </a:solidFill>
                <a:latin typeface="NanumSquare"/>
              </a:rPr>
              <a:t>·</a:t>
            </a:r>
            <a:r>
              <a:rPr b="1" lang="ko-KR" sz="2000" spc="-1" strike="noStrike">
                <a:solidFill>
                  <a:srgbClr val="ee902b"/>
                </a:solidFill>
                <a:latin typeface="NanumSquare"/>
              </a:rPr>
              <a:t>평가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8" name="CustomShape 16"/>
          <p:cNvSpPr/>
          <p:nvPr/>
        </p:nvSpPr>
        <p:spPr>
          <a:xfrm>
            <a:off x="8275320" y="2258640"/>
            <a:ext cx="3081240" cy="129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동일 행 조건으로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L/R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대응 선택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수평 팁 길이 규칙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CPU/GPU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동일 결과 검증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crop alpha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렌더 최적화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•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GT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클릭 기반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2D pixel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오차 평가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9" name="CustomShape 17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04  INTERFACE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현재 패키지의 입력과 출력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진입점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: tip2d.pipeline.detect_tips_2d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CustomShape 5"/>
          <p:cNvSpPr/>
          <p:nvPr/>
        </p:nvSpPr>
        <p:spPr>
          <a:xfrm>
            <a:off x="640080" y="1828800"/>
            <a:ext cx="959760" cy="685440"/>
          </a:xfrm>
          <a:prstGeom prst="roundRect">
            <a:avLst>
              <a:gd name="adj" fmla="val 16667"/>
            </a:avLst>
          </a:prstGeom>
          <a:solidFill>
            <a:srgbClr val="121f31"/>
          </a:solidFill>
          <a:ln>
            <a:solidFill>
              <a:srgbClr val="121f31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CustomShape 6"/>
          <p:cNvSpPr/>
          <p:nvPr/>
        </p:nvSpPr>
        <p:spPr>
          <a:xfrm>
            <a:off x="713160" y="2020320"/>
            <a:ext cx="813600" cy="302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pPr algn="ctr">
              <a:lnSpc>
                <a:spcPct val="100000"/>
              </a:lnSpc>
            </a:pPr>
            <a:r>
              <a:rPr b="1" lang="ko-KR" sz="1500" spc="-1" strike="noStrike">
                <a:solidFill>
                  <a:srgbClr val="ffffff"/>
                </a:solidFill>
                <a:latin typeface="NanumSquare"/>
              </a:rPr>
              <a:t>입력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6" name="CustomShape 7"/>
          <p:cNvSpPr/>
          <p:nvPr/>
        </p:nvSpPr>
        <p:spPr>
          <a:xfrm>
            <a:off x="1828800" y="1572840"/>
            <a:ext cx="21484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CustomShape 8"/>
          <p:cNvSpPr/>
          <p:nvPr/>
        </p:nvSpPr>
        <p:spPr>
          <a:xfrm>
            <a:off x="1828800" y="1572840"/>
            <a:ext cx="72720" cy="118836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CustomShape 9"/>
          <p:cNvSpPr/>
          <p:nvPr/>
        </p:nvSpPr>
        <p:spPr>
          <a:xfrm>
            <a:off x="2030040" y="1719000"/>
            <a:ext cx="18284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772bf"/>
                </a:solidFill>
                <a:latin typeface="NanumSquare"/>
              </a:rPr>
              <a:t>L/R query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9" name="CustomShape 10"/>
          <p:cNvSpPr/>
          <p:nvPr/>
        </p:nvSpPr>
        <p:spPr>
          <a:xfrm>
            <a:off x="2030040" y="2139840"/>
            <a:ext cx="18010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1920×1080 rectified stereo BGR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영상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0" name="CustomShape 11"/>
          <p:cNvSpPr/>
          <p:nvPr/>
        </p:nvSpPr>
        <p:spPr>
          <a:xfrm>
            <a:off x="4160520" y="1572840"/>
            <a:ext cx="21484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CustomShape 12"/>
          <p:cNvSpPr/>
          <p:nvPr/>
        </p:nvSpPr>
        <p:spPr>
          <a:xfrm>
            <a:off x="4160520" y="1572840"/>
            <a:ext cx="72720" cy="118836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CustomShape 13"/>
          <p:cNvSpPr/>
          <p:nvPr/>
        </p:nvSpPr>
        <p:spPr>
          <a:xfrm>
            <a:off x="4361760" y="1719000"/>
            <a:ext cx="18284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772bf"/>
                </a:solidFill>
                <a:latin typeface="NanumSquare"/>
              </a:rPr>
              <a:t>L/R SAM mask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3" name="CustomShape 14"/>
          <p:cNvSpPr/>
          <p:nvPr/>
        </p:nvSpPr>
        <p:spPr>
          <a:xfrm>
            <a:off x="4361760" y="2139840"/>
            <a:ext cx="18010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물체 주변 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edge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를 제한하는 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binary mask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4" name="CustomShape 15"/>
          <p:cNvSpPr/>
          <p:nvPr/>
        </p:nvSpPr>
        <p:spPr>
          <a:xfrm>
            <a:off x="6492240" y="1572840"/>
            <a:ext cx="19198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CustomShape 16"/>
          <p:cNvSpPr/>
          <p:nvPr/>
        </p:nvSpPr>
        <p:spPr>
          <a:xfrm>
            <a:off x="6492240" y="1572840"/>
            <a:ext cx="72720" cy="118836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CustomShape 17"/>
          <p:cNvSpPr/>
          <p:nvPr/>
        </p:nvSpPr>
        <p:spPr>
          <a:xfrm>
            <a:off x="6693480" y="1719000"/>
            <a:ext cx="15998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772bf"/>
                </a:solidFill>
                <a:latin typeface="NanumSquare"/>
              </a:rPr>
              <a:t>pose R, t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7" name="CustomShape 18"/>
          <p:cNvSpPr/>
          <p:nvPr/>
        </p:nvSpPr>
        <p:spPr>
          <a:xfrm>
            <a:off x="6693480" y="2139840"/>
            <a:ext cx="1572480" cy="62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6D pose estimation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출력</a:t>
            </a:r>
            <a:endParaRPr b="0" lang="en-US" sz="900" spc="-1" strike="noStrike">
              <a:latin typeface="Arial"/>
            </a:endParaRPr>
          </a:p>
          <a:p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R: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왼쪽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rectified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카메라에서 본 물체 회전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t: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같은 시점의 물체 위치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8" name="CustomShape 19"/>
          <p:cNvSpPr/>
          <p:nvPr/>
        </p:nvSpPr>
        <p:spPr>
          <a:xfrm>
            <a:off x="8595360" y="1572840"/>
            <a:ext cx="2834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CustomShape 20"/>
          <p:cNvSpPr/>
          <p:nvPr/>
        </p:nvSpPr>
        <p:spPr>
          <a:xfrm>
            <a:off x="8595360" y="1572840"/>
            <a:ext cx="72720" cy="118836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CustomShape 21"/>
          <p:cNvSpPr/>
          <p:nvPr/>
        </p:nvSpPr>
        <p:spPr>
          <a:xfrm>
            <a:off x="8796600" y="1719000"/>
            <a:ext cx="25142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772bf"/>
                </a:solidFill>
                <a:latin typeface="NanumSquare"/>
              </a:rPr>
              <a:t>object + renderer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41" name="CustomShape 22"/>
          <p:cNvSpPr/>
          <p:nvPr/>
        </p:nvSpPr>
        <p:spPr>
          <a:xfrm>
            <a:off x="8796600" y="2139840"/>
            <a:ext cx="24868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semantic axis, profile, 3DGS alpha renderer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2" name="Line 23"/>
          <p:cNvSpPr/>
          <p:nvPr/>
        </p:nvSpPr>
        <p:spPr>
          <a:xfrm>
            <a:off x="6080760" y="2880360"/>
            <a:ext cx="0" cy="548640"/>
          </a:xfrm>
          <a:prstGeom prst="line">
            <a:avLst/>
          </a:prstGeom>
          <a:ln>
            <a:solidFill>
              <a:srgbClr val="349669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3" name="CustomShape 24"/>
          <p:cNvSpPr/>
          <p:nvPr/>
        </p:nvSpPr>
        <p:spPr>
          <a:xfrm>
            <a:off x="3749040" y="3429000"/>
            <a:ext cx="4663080" cy="749520"/>
          </a:xfrm>
          <a:prstGeom prst="roundRect">
            <a:avLst>
              <a:gd name="adj" fmla="val 16667"/>
            </a:avLst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CustomShape 25"/>
          <p:cNvSpPr/>
          <p:nvPr/>
        </p:nvSpPr>
        <p:spPr>
          <a:xfrm>
            <a:off x="3822120" y="3637080"/>
            <a:ext cx="4516920" cy="33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NanumSquare"/>
              </a:rPr>
              <a:t>detect_tips_2d(...)  →  tip1 / tip2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45" name="Line 26"/>
          <p:cNvSpPr/>
          <p:nvPr/>
        </p:nvSpPr>
        <p:spPr>
          <a:xfrm>
            <a:off x="6080760" y="4178520"/>
            <a:ext cx="0" cy="530640"/>
          </a:xfrm>
          <a:prstGeom prst="line">
            <a:avLst/>
          </a:prstGeom>
          <a:ln>
            <a:solidFill>
              <a:srgbClr val="349669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6" name="CustomShape 27"/>
          <p:cNvSpPr/>
          <p:nvPr/>
        </p:nvSpPr>
        <p:spPr>
          <a:xfrm>
            <a:off x="640080" y="4919400"/>
            <a:ext cx="959760" cy="685440"/>
          </a:xfrm>
          <a:prstGeom prst="roundRect">
            <a:avLst>
              <a:gd name="adj" fmla="val 16667"/>
            </a:avLst>
          </a:prstGeom>
          <a:solidFill>
            <a:srgbClr val="121f31"/>
          </a:solidFill>
          <a:ln>
            <a:solidFill>
              <a:srgbClr val="121f31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CustomShape 28"/>
          <p:cNvSpPr/>
          <p:nvPr/>
        </p:nvSpPr>
        <p:spPr>
          <a:xfrm>
            <a:off x="713160" y="5110920"/>
            <a:ext cx="813600" cy="302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pPr algn="ctr">
              <a:lnSpc>
                <a:spcPct val="100000"/>
              </a:lnSpc>
            </a:pPr>
            <a:r>
              <a:rPr b="1" lang="ko-KR" sz="1500" spc="-1" strike="noStrike">
                <a:solidFill>
                  <a:srgbClr val="ffffff"/>
                </a:solidFill>
                <a:latin typeface="NanumSquare"/>
              </a:rPr>
              <a:t>출력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8" name="CustomShape 29"/>
          <p:cNvSpPr/>
          <p:nvPr/>
        </p:nvSpPr>
        <p:spPr>
          <a:xfrm>
            <a:off x="1828800" y="4681800"/>
            <a:ext cx="18284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CustomShape 30"/>
          <p:cNvSpPr/>
          <p:nvPr/>
        </p:nvSpPr>
        <p:spPr>
          <a:xfrm>
            <a:off x="1828800" y="4681800"/>
            <a:ext cx="72720" cy="114264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CustomShape 31"/>
          <p:cNvSpPr/>
          <p:nvPr/>
        </p:nvSpPr>
        <p:spPr>
          <a:xfrm>
            <a:off x="2030040" y="4827960"/>
            <a:ext cx="150840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e902b"/>
                </a:solidFill>
                <a:latin typeface="NanumSquare"/>
              </a:rPr>
              <a:t>end_px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1" name="CustomShape 32"/>
          <p:cNvSpPr/>
          <p:nvPr/>
        </p:nvSpPr>
        <p:spPr>
          <a:xfrm>
            <a:off x="2030040" y="5248800"/>
            <a:ext cx="148104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L/R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팁 끝 픽셀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2" name="CustomShape 33"/>
          <p:cNvSpPr/>
          <p:nvPr/>
        </p:nvSpPr>
        <p:spPr>
          <a:xfrm>
            <a:off x="3840480" y="4681800"/>
            <a:ext cx="233136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CustomShape 34"/>
          <p:cNvSpPr/>
          <p:nvPr/>
        </p:nvSpPr>
        <p:spPr>
          <a:xfrm>
            <a:off x="3840480" y="4681800"/>
            <a:ext cx="72720" cy="114264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CustomShape 35"/>
          <p:cNvSpPr/>
          <p:nvPr/>
        </p:nvSpPr>
        <p:spPr>
          <a:xfrm>
            <a:off x="4041720" y="4827960"/>
            <a:ext cx="201132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e902b"/>
                </a:solidFill>
                <a:latin typeface="NanumSquare"/>
              </a:rPr>
              <a:t>edges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5" name="CustomShape 36"/>
          <p:cNvSpPr/>
          <p:nvPr/>
        </p:nvSpPr>
        <p:spPr>
          <a:xfrm>
            <a:off x="4041720" y="5248800"/>
            <a:ext cx="198396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upper/lower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코팅점과 윤곽 직선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6" name="CustomShape 37"/>
          <p:cNvSpPr/>
          <p:nvPr/>
        </p:nvSpPr>
        <p:spPr>
          <a:xfrm>
            <a:off x="6355080" y="4681800"/>
            <a:ext cx="214848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CustomShape 38"/>
          <p:cNvSpPr/>
          <p:nvPr/>
        </p:nvSpPr>
        <p:spPr>
          <a:xfrm>
            <a:off x="6355080" y="4681800"/>
            <a:ext cx="72720" cy="114264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CustomShape 39"/>
          <p:cNvSpPr/>
          <p:nvPr/>
        </p:nvSpPr>
        <p:spPr>
          <a:xfrm>
            <a:off x="6556320" y="4827960"/>
            <a:ext cx="182844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e902b"/>
                </a:solidFill>
                <a:latin typeface="NanumSquare"/>
              </a:rPr>
              <a:t>coat_end_dir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9" name="CustomShape 40"/>
          <p:cNvSpPr/>
          <p:nvPr/>
        </p:nvSpPr>
        <p:spPr>
          <a:xfrm>
            <a:off x="6556320" y="5248800"/>
            <a:ext cx="180108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코팅→끝 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2D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단위벡터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0" name="CustomShape 41"/>
          <p:cNvSpPr/>
          <p:nvPr/>
        </p:nvSpPr>
        <p:spPr>
          <a:xfrm>
            <a:off x="8686800" y="468180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CustomShape 42"/>
          <p:cNvSpPr/>
          <p:nvPr/>
        </p:nvSpPr>
        <p:spPr>
          <a:xfrm>
            <a:off x="8686800" y="4681800"/>
            <a:ext cx="72720" cy="114264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CustomShape 43"/>
          <p:cNvSpPr/>
          <p:nvPr/>
        </p:nvSpPr>
        <p:spPr>
          <a:xfrm>
            <a:off x="8888040" y="4827960"/>
            <a:ext cx="242280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e902b"/>
                </a:solidFill>
                <a:latin typeface="NanumSquare"/>
              </a:rPr>
              <a:t>quality flags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3" name="CustomShape 44"/>
          <p:cNvSpPr/>
          <p:nvPr/>
        </p:nvSpPr>
        <p:spPr>
          <a:xfrm>
            <a:off x="8888040" y="5248800"/>
            <a:ext cx="239544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행 차이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경계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수평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정렬 한계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실패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4" name="CustomShape 45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5" name="CustomShape 46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코드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tip2d/pipeline.py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05  PIPELINE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실제 실행 순서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68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문서 번호와 호출 순서가 다른 지점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: 4.1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이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3.8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보다 먼저 실행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9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CustomShape 5"/>
          <p:cNvSpPr/>
          <p:nvPr/>
        </p:nvSpPr>
        <p:spPr>
          <a:xfrm>
            <a:off x="658440" y="182880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CustomShape 6"/>
          <p:cNvSpPr/>
          <p:nvPr/>
        </p:nvSpPr>
        <p:spPr>
          <a:xfrm>
            <a:off x="731520" y="192024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2" name="CustomShape 7"/>
          <p:cNvSpPr/>
          <p:nvPr/>
        </p:nvSpPr>
        <p:spPr>
          <a:xfrm>
            <a:off x="731520" y="221292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투영</a:t>
            </a:r>
            <a:r>
              <a:rPr b="1" lang="en-US" sz="1400" spc="-1" strike="noStrike">
                <a:solidFill>
                  <a:srgbClr val="ffffff"/>
                </a:solidFill>
                <a:latin typeface="NanumSquare"/>
              </a:rPr>
              <a:t>·crop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3" name="Line 8"/>
          <p:cNvSpPr/>
          <p:nvPr/>
        </p:nvSpPr>
        <p:spPr>
          <a:xfrm>
            <a:off x="2249280" y="230400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4" name="CustomShape 9"/>
          <p:cNvSpPr/>
          <p:nvPr/>
        </p:nvSpPr>
        <p:spPr>
          <a:xfrm>
            <a:off x="2532960" y="182880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CustomShape 10"/>
          <p:cNvSpPr/>
          <p:nvPr/>
        </p:nvSpPr>
        <p:spPr>
          <a:xfrm>
            <a:off x="2606040" y="192024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6" name="CustomShape 11"/>
          <p:cNvSpPr/>
          <p:nvPr/>
        </p:nvSpPr>
        <p:spPr>
          <a:xfrm>
            <a:off x="2606040" y="221292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렌더</a:t>
            </a:r>
            <a:r>
              <a:rPr b="1" lang="en-US" sz="1400" spc="-1" strike="noStrike">
                <a:solidFill>
                  <a:srgbClr val="ffffff"/>
                </a:solidFill>
                <a:latin typeface="NanumSquare"/>
              </a:rPr>
              <a:t>·edge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7" name="Line 12"/>
          <p:cNvSpPr/>
          <p:nvPr/>
        </p:nvSpPr>
        <p:spPr>
          <a:xfrm>
            <a:off x="4123800" y="230400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8" name="CustomShape 13"/>
          <p:cNvSpPr/>
          <p:nvPr/>
        </p:nvSpPr>
        <p:spPr>
          <a:xfrm>
            <a:off x="4407480" y="182880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CustomShape 14"/>
          <p:cNvSpPr/>
          <p:nvPr/>
        </p:nvSpPr>
        <p:spPr>
          <a:xfrm>
            <a:off x="4480560" y="192024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0" name="CustomShape 15"/>
          <p:cNvSpPr/>
          <p:nvPr/>
        </p:nvSpPr>
        <p:spPr>
          <a:xfrm>
            <a:off x="4480560" y="221292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모델 윤곽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1" name="Line 16"/>
          <p:cNvSpPr/>
          <p:nvPr/>
        </p:nvSpPr>
        <p:spPr>
          <a:xfrm>
            <a:off x="5998320" y="230400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2" name="CustomShape 17"/>
          <p:cNvSpPr/>
          <p:nvPr/>
        </p:nvSpPr>
        <p:spPr>
          <a:xfrm>
            <a:off x="6282000" y="182880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CustomShape 18"/>
          <p:cNvSpPr/>
          <p:nvPr/>
        </p:nvSpPr>
        <p:spPr>
          <a:xfrm>
            <a:off x="6355080" y="192024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4" name="CustomShape 19"/>
          <p:cNvSpPr/>
          <p:nvPr/>
        </p:nvSpPr>
        <p:spPr>
          <a:xfrm>
            <a:off x="6355080" y="221292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정렬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5" name="Line 20"/>
          <p:cNvSpPr/>
          <p:nvPr/>
        </p:nvSpPr>
        <p:spPr>
          <a:xfrm>
            <a:off x="7872840" y="230400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6" name="CustomShape 21"/>
          <p:cNvSpPr/>
          <p:nvPr/>
        </p:nvSpPr>
        <p:spPr>
          <a:xfrm>
            <a:off x="8156520" y="182880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CustomShape 22"/>
          <p:cNvSpPr/>
          <p:nvPr/>
        </p:nvSpPr>
        <p:spPr>
          <a:xfrm>
            <a:off x="8229600" y="192024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CustomShape 23"/>
          <p:cNvSpPr/>
          <p:nvPr/>
        </p:nvSpPr>
        <p:spPr>
          <a:xfrm>
            <a:off x="8229600" y="221292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법선 탐색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9" name="Line 24"/>
          <p:cNvSpPr/>
          <p:nvPr/>
        </p:nvSpPr>
        <p:spPr>
          <a:xfrm>
            <a:off x="9747360" y="230400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0" name="CustomShape 25"/>
          <p:cNvSpPr/>
          <p:nvPr/>
        </p:nvSpPr>
        <p:spPr>
          <a:xfrm>
            <a:off x="10031040" y="182880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CustomShape 26"/>
          <p:cNvSpPr/>
          <p:nvPr/>
        </p:nvSpPr>
        <p:spPr>
          <a:xfrm>
            <a:off x="10104120" y="192024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2" name="CustomShape 27"/>
          <p:cNvSpPr/>
          <p:nvPr/>
        </p:nvSpPr>
        <p:spPr>
          <a:xfrm>
            <a:off x="10104120" y="221292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사슬 추적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3" name="CustomShape 28"/>
          <p:cNvSpPr/>
          <p:nvPr/>
        </p:nvSpPr>
        <p:spPr>
          <a:xfrm>
            <a:off x="658440" y="370332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CustomShape 29"/>
          <p:cNvSpPr/>
          <p:nvPr/>
        </p:nvSpPr>
        <p:spPr>
          <a:xfrm>
            <a:off x="731520" y="379476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5" name="CustomShape 30"/>
          <p:cNvSpPr/>
          <p:nvPr/>
        </p:nvSpPr>
        <p:spPr>
          <a:xfrm>
            <a:off x="731520" y="408744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끝 후보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6" name="Line 31"/>
          <p:cNvSpPr/>
          <p:nvPr/>
        </p:nvSpPr>
        <p:spPr>
          <a:xfrm>
            <a:off x="2249280" y="417852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7" name="CustomShape 32"/>
          <p:cNvSpPr/>
          <p:nvPr/>
        </p:nvSpPr>
        <p:spPr>
          <a:xfrm>
            <a:off x="2532960" y="370332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CustomShape 33"/>
          <p:cNvSpPr/>
          <p:nvPr/>
        </p:nvSpPr>
        <p:spPr>
          <a:xfrm>
            <a:off x="2606040" y="379476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4.1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" name="CustomShape 34"/>
          <p:cNvSpPr/>
          <p:nvPr/>
        </p:nvSpPr>
        <p:spPr>
          <a:xfrm>
            <a:off x="2606040" y="408744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NanumSquare"/>
              </a:rPr>
              <a:t>L/R </a:t>
            </a: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후보 선택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0" name="Line 35"/>
          <p:cNvSpPr/>
          <p:nvPr/>
        </p:nvSpPr>
        <p:spPr>
          <a:xfrm>
            <a:off x="4123800" y="417852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1" name="CustomShape 36"/>
          <p:cNvSpPr/>
          <p:nvPr/>
        </p:nvSpPr>
        <p:spPr>
          <a:xfrm>
            <a:off x="4407480" y="370332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CustomShape 37"/>
          <p:cNvSpPr/>
          <p:nvPr/>
        </p:nvSpPr>
        <p:spPr>
          <a:xfrm>
            <a:off x="4480560" y="379476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3" name="CustomShape 38"/>
          <p:cNvSpPr/>
          <p:nvPr/>
        </p:nvSpPr>
        <p:spPr>
          <a:xfrm>
            <a:off x="4480560" y="408744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NanumSquare"/>
              </a:rPr>
              <a:t>ridge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4" name="Line 39"/>
          <p:cNvSpPr/>
          <p:nvPr/>
        </p:nvSpPr>
        <p:spPr>
          <a:xfrm>
            <a:off x="5998320" y="417852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5" name="CustomShape 40"/>
          <p:cNvSpPr/>
          <p:nvPr/>
        </p:nvSpPr>
        <p:spPr>
          <a:xfrm>
            <a:off x="6282000" y="370332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CustomShape 41"/>
          <p:cNvSpPr/>
          <p:nvPr/>
        </p:nvSpPr>
        <p:spPr>
          <a:xfrm>
            <a:off x="6355080" y="379476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7" name="CustomShape 42"/>
          <p:cNvSpPr/>
          <p:nvPr/>
        </p:nvSpPr>
        <p:spPr>
          <a:xfrm>
            <a:off x="6355080" y="408744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코팅 경계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8" name="Line 43"/>
          <p:cNvSpPr/>
          <p:nvPr/>
        </p:nvSpPr>
        <p:spPr>
          <a:xfrm>
            <a:off x="7872840" y="417852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9" name="CustomShape 44"/>
          <p:cNvSpPr/>
          <p:nvPr/>
        </p:nvSpPr>
        <p:spPr>
          <a:xfrm>
            <a:off x="8156520" y="370332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CustomShape 45"/>
          <p:cNvSpPr/>
          <p:nvPr/>
        </p:nvSpPr>
        <p:spPr>
          <a:xfrm>
            <a:off x="8229600" y="379476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3.10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1" name="CustomShape 46"/>
          <p:cNvSpPr/>
          <p:nvPr/>
        </p:nvSpPr>
        <p:spPr>
          <a:xfrm>
            <a:off x="8229600" y="408744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NanumSquare"/>
              </a:rPr>
              <a:t>upper/lower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2" name="Line 47"/>
          <p:cNvSpPr/>
          <p:nvPr/>
        </p:nvSpPr>
        <p:spPr>
          <a:xfrm>
            <a:off x="9747360" y="4178520"/>
            <a:ext cx="237600" cy="0"/>
          </a:xfrm>
          <a:prstGeom prst="line">
            <a:avLst/>
          </a:prstGeom>
          <a:ln w="1764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3" name="CustomShape 48"/>
          <p:cNvSpPr/>
          <p:nvPr/>
        </p:nvSpPr>
        <p:spPr>
          <a:xfrm>
            <a:off x="10031040" y="3703320"/>
            <a:ext cx="1572480" cy="959760"/>
          </a:xfrm>
          <a:prstGeom prst="roundRect">
            <a:avLst>
              <a:gd name="adj" fmla="val 16667"/>
            </a:avLst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CustomShape 49"/>
          <p:cNvSpPr/>
          <p:nvPr/>
        </p:nvSpPr>
        <p:spPr>
          <a:xfrm>
            <a:off x="10104120" y="3794760"/>
            <a:ext cx="502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NanumSquare"/>
              </a:rPr>
              <a:t>4.2+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5" name="CustomShape 50"/>
          <p:cNvSpPr/>
          <p:nvPr/>
        </p:nvSpPr>
        <p:spPr>
          <a:xfrm>
            <a:off x="10104120" y="4087440"/>
            <a:ext cx="14169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NanumSquare"/>
              </a:rPr>
              <a:t>stereo </a:t>
            </a:r>
            <a:r>
              <a:rPr b="1" lang="ko-KR" sz="1400" spc="-1" strike="noStrike">
                <a:solidFill>
                  <a:srgbClr val="ffffff"/>
                </a:solidFill>
                <a:latin typeface="NanumSquare"/>
              </a:rPr>
              <a:t>최종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6" name="Line 51"/>
          <p:cNvSpPr/>
          <p:nvPr/>
        </p:nvSpPr>
        <p:spPr>
          <a:xfrm>
            <a:off x="10698480" y="2834640"/>
            <a:ext cx="0" cy="777240"/>
          </a:xfrm>
          <a:prstGeom prst="line">
            <a:avLst/>
          </a:prstGeom>
          <a:ln w="19080">
            <a:solidFill>
              <a:srgbClr val="5c697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7" name="CustomShape 52"/>
          <p:cNvSpPr/>
          <p:nvPr/>
        </p:nvSpPr>
        <p:spPr>
          <a:xfrm>
            <a:off x="749880" y="1481400"/>
            <a:ext cx="27428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2772bf"/>
                </a:solidFill>
                <a:latin typeface="NanumSquare"/>
              </a:rPr>
              <a:t>L/R </a:t>
            </a:r>
            <a:r>
              <a:rPr b="1" lang="ko-KR" sz="1200" spc="-1" strike="noStrike">
                <a:solidFill>
                  <a:srgbClr val="2772bf"/>
                </a:solidFill>
                <a:latin typeface="NanumSquare"/>
              </a:rPr>
              <a:t>각각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8" name="CustomShape 53"/>
          <p:cNvSpPr/>
          <p:nvPr/>
        </p:nvSpPr>
        <p:spPr>
          <a:xfrm>
            <a:off x="6309360" y="5623560"/>
            <a:ext cx="466308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1" lang="en-US" sz="1200" spc="-1" strike="noStrike">
                <a:solidFill>
                  <a:srgbClr val="ee902b"/>
                </a:solidFill>
                <a:latin typeface="NanumSquare"/>
              </a:rPr>
              <a:t>L/R </a:t>
            </a:r>
            <a:r>
              <a:rPr b="1" lang="ko-KR" sz="1200" spc="-1" strike="noStrike">
                <a:solidFill>
                  <a:srgbClr val="ee902b"/>
                </a:solidFill>
                <a:latin typeface="NanumSquare"/>
              </a:rPr>
              <a:t>공동 선택 → 다시 </a:t>
            </a:r>
            <a:r>
              <a:rPr b="1" lang="en-US" sz="1200" spc="-1" strike="noStrike">
                <a:solidFill>
                  <a:srgbClr val="ee902b"/>
                </a:solidFill>
                <a:latin typeface="NanumSquare"/>
              </a:rPr>
              <a:t>view </a:t>
            </a:r>
            <a:r>
              <a:rPr b="1" lang="ko-KR" sz="1200" spc="-1" strike="noStrike">
                <a:solidFill>
                  <a:srgbClr val="ee902b"/>
                </a:solidFill>
                <a:latin typeface="NanumSquare"/>
              </a:rPr>
              <a:t>마무리 → 공동 선택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9" name="CustomShape 54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20" name="CustomShape 55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근거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outputs/VETUStweezers/debug/README_KO.md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06  VIEW STAGE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3.1~3.4 | Pose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투영을 실제 영상 </a:t>
            </a: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edge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에 정렬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23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이 단계가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pose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의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2D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투영 오차를 흡수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4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CustomShape 5"/>
          <p:cNvSpPr/>
          <p:nvPr/>
        </p:nvSpPr>
        <p:spPr>
          <a:xfrm>
            <a:off x="594360" y="1572840"/>
            <a:ext cx="2514240" cy="248688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26" name="Picture 6" descr="s3_1_projection.jpg"/>
          <p:cNvPicPr/>
          <p:nvPr/>
        </p:nvPicPr>
        <p:blipFill>
          <a:blip r:embed="rId1"/>
          <a:stretch/>
        </p:blipFill>
        <p:spPr>
          <a:xfrm>
            <a:off x="594360" y="1648440"/>
            <a:ext cx="2514240" cy="2335320"/>
          </a:xfrm>
          <a:prstGeom prst="rect">
            <a:avLst/>
          </a:prstGeom>
          <a:ln>
            <a:noFill/>
          </a:ln>
        </p:spPr>
      </p:pic>
      <p:sp>
        <p:nvSpPr>
          <p:cNvPr id="227" name="CustomShape 6"/>
          <p:cNvSpPr/>
          <p:nvPr/>
        </p:nvSpPr>
        <p:spPr>
          <a:xfrm>
            <a:off x="3291840" y="1572840"/>
            <a:ext cx="2514240" cy="248688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28" name="Picture 8" descr="s3_2_render_edges.jpg"/>
          <p:cNvPicPr/>
          <p:nvPr/>
        </p:nvPicPr>
        <p:blipFill>
          <a:blip r:embed="rId2"/>
          <a:stretch/>
        </p:blipFill>
        <p:spPr>
          <a:xfrm>
            <a:off x="3291840" y="1648800"/>
            <a:ext cx="2514240" cy="2334600"/>
          </a:xfrm>
          <a:prstGeom prst="rect">
            <a:avLst/>
          </a:prstGeom>
          <a:ln>
            <a:noFill/>
          </a:ln>
        </p:spPr>
      </p:pic>
      <p:sp>
        <p:nvSpPr>
          <p:cNvPr id="229" name="CustomShape 7"/>
          <p:cNvSpPr/>
          <p:nvPr/>
        </p:nvSpPr>
        <p:spPr>
          <a:xfrm>
            <a:off x="5989320" y="1572840"/>
            <a:ext cx="2514240" cy="248688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30" name="Picture 10" descr="s3_3_model_edges.jpg"/>
          <p:cNvPicPr/>
          <p:nvPr/>
        </p:nvPicPr>
        <p:blipFill>
          <a:blip r:embed="rId3"/>
          <a:stretch/>
        </p:blipFill>
        <p:spPr>
          <a:xfrm>
            <a:off x="5989320" y="1648440"/>
            <a:ext cx="2514240" cy="2335320"/>
          </a:xfrm>
          <a:prstGeom prst="rect">
            <a:avLst/>
          </a:prstGeom>
          <a:ln>
            <a:noFill/>
          </a:ln>
        </p:spPr>
      </p:pic>
      <p:sp>
        <p:nvSpPr>
          <p:cNvPr id="231" name="CustomShape 8"/>
          <p:cNvSpPr/>
          <p:nvPr/>
        </p:nvSpPr>
        <p:spPr>
          <a:xfrm>
            <a:off x="8686800" y="1572840"/>
            <a:ext cx="2514240" cy="248688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32" name="Picture 12" descr="s3_4_alignment.jpg"/>
          <p:cNvPicPr/>
          <p:nvPr/>
        </p:nvPicPr>
        <p:blipFill>
          <a:blip r:embed="rId4"/>
          <a:stretch/>
        </p:blipFill>
        <p:spPr>
          <a:xfrm>
            <a:off x="8686800" y="1648440"/>
            <a:ext cx="2514240" cy="2335320"/>
          </a:xfrm>
          <a:prstGeom prst="rect">
            <a:avLst/>
          </a:prstGeom>
          <a:ln>
            <a:noFill/>
          </a:ln>
        </p:spPr>
      </p:pic>
      <p:sp>
        <p:nvSpPr>
          <p:cNvPr id="233" name="CustomShape 9"/>
          <p:cNvSpPr/>
          <p:nvPr/>
        </p:nvSpPr>
        <p:spPr>
          <a:xfrm>
            <a:off x="594360" y="4133160"/>
            <a:ext cx="251424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semantic vector 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투영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4" name="CustomShape 10"/>
          <p:cNvSpPr/>
          <p:nvPr/>
        </p:nvSpPr>
        <p:spPr>
          <a:xfrm>
            <a:off x="3291840" y="4133160"/>
            <a:ext cx="251424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alpha·Canny·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방향 거리 지도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5" name="CustomShape 11"/>
          <p:cNvSpPr/>
          <p:nvPr/>
        </p:nvSpPr>
        <p:spPr>
          <a:xfrm>
            <a:off x="5989320" y="4133160"/>
            <a:ext cx="251424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팁 윤곽 직선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4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6" name="CustomShape 12"/>
          <p:cNvSpPr/>
          <p:nvPr/>
        </p:nvSpPr>
        <p:spPr>
          <a:xfrm>
            <a:off x="8686800" y="4133160"/>
            <a:ext cx="251424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닮음 변환 최적화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7" name="CustomShape 13"/>
          <p:cNvSpPr/>
          <p:nvPr/>
        </p:nvSpPr>
        <p:spPr>
          <a:xfrm>
            <a:off x="713160" y="4690800"/>
            <a:ext cx="37486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CustomShape 14"/>
          <p:cNvSpPr/>
          <p:nvPr/>
        </p:nvSpPr>
        <p:spPr>
          <a:xfrm>
            <a:off x="713160" y="4690800"/>
            <a:ext cx="72720" cy="123408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CustomShape 15"/>
          <p:cNvSpPr/>
          <p:nvPr/>
        </p:nvSpPr>
        <p:spPr>
          <a:xfrm>
            <a:off x="914400" y="4837320"/>
            <a:ext cx="342864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600" spc="-1" strike="noStrike">
                <a:solidFill>
                  <a:srgbClr val="2772bf"/>
                </a:solidFill>
                <a:latin typeface="NanumSquare"/>
              </a:rPr>
              <a:t>닮음 변환이란</a:t>
            </a:r>
            <a:r>
              <a:rPr b="1" lang="en-US" sz="1600" spc="-1" strike="noStrike">
                <a:solidFill>
                  <a:srgbClr val="2772bf"/>
                </a:solidFill>
                <a:latin typeface="NanumSquare"/>
              </a:rPr>
              <a:t>?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0" name="CustomShape 16"/>
          <p:cNvSpPr/>
          <p:nvPr/>
        </p:nvSpPr>
        <p:spPr>
          <a:xfrm>
            <a:off x="914400" y="5257800"/>
            <a:ext cx="3401280" cy="62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형상을 찌그러뜨리지 않고 ① 회전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θ ②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모든 방향에 같은 배율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s ③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평행이동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offset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만 적용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직선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각도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길이 비율은 유지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1" name="CustomShape 17"/>
          <p:cNvSpPr/>
          <p:nvPr/>
        </p:nvSpPr>
        <p:spPr>
          <a:xfrm>
            <a:off x="4572000" y="4690800"/>
            <a:ext cx="416016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CustomShape 18"/>
          <p:cNvSpPr/>
          <p:nvPr/>
        </p:nvSpPr>
        <p:spPr>
          <a:xfrm>
            <a:off x="4572000" y="4690800"/>
            <a:ext cx="72720" cy="123408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CustomShape 19"/>
          <p:cNvSpPr/>
          <p:nvPr/>
        </p:nvSpPr>
        <p:spPr>
          <a:xfrm>
            <a:off x="4773240" y="4837320"/>
            <a:ext cx="384012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600" spc="-1" strike="noStrike">
                <a:solidFill>
                  <a:srgbClr val="349669"/>
                </a:solidFill>
                <a:latin typeface="NanumSquare"/>
              </a:rPr>
              <a:t>정렬식 </a:t>
            </a:r>
            <a:r>
              <a:rPr b="1" lang="en-US" sz="1600" spc="-1" strike="noStrike">
                <a:solidFill>
                  <a:srgbClr val="349669"/>
                </a:solidFill>
                <a:latin typeface="NanumSquare"/>
              </a:rPr>
              <a:t>· </a:t>
            </a:r>
            <a:r>
              <a:rPr b="1" lang="ko-KR" sz="1600" spc="-1" strike="noStrike">
                <a:solidFill>
                  <a:srgbClr val="349669"/>
                </a:solidFill>
                <a:latin typeface="NanumSquare"/>
              </a:rPr>
              <a:t>탐색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4" name="CustomShape 20"/>
          <p:cNvSpPr/>
          <p:nvPr/>
        </p:nvSpPr>
        <p:spPr>
          <a:xfrm>
            <a:off x="4773240" y="5257800"/>
            <a:ext cx="3812760" cy="62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p′ = center + s·R(θ)·(p−center) + offset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θ ±6°, s 0.96/1/1.04, offset ±40px → 0.25°/0.5px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세밀화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5" name="CustomShape 21"/>
          <p:cNvSpPr/>
          <p:nvPr/>
        </p:nvSpPr>
        <p:spPr>
          <a:xfrm>
            <a:off x="8851320" y="4690800"/>
            <a:ext cx="26056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CustomShape 22"/>
          <p:cNvSpPr/>
          <p:nvPr/>
        </p:nvSpPr>
        <p:spPr>
          <a:xfrm>
            <a:off x="8851320" y="4690800"/>
            <a:ext cx="72720" cy="123408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CustomShape 23"/>
          <p:cNvSpPr/>
          <p:nvPr/>
        </p:nvSpPr>
        <p:spPr>
          <a:xfrm>
            <a:off x="9052560" y="4837320"/>
            <a:ext cx="228564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600" spc="-1" strike="noStrike">
                <a:solidFill>
                  <a:srgbClr val="ee902b"/>
                </a:solidFill>
                <a:latin typeface="NanumSquare"/>
              </a:rPr>
              <a:t>무엇을 보정하나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8" name="CustomShape 24"/>
          <p:cNvSpPr/>
          <p:nvPr/>
        </p:nvSpPr>
        <p:spPr>
          <a:xfrm>
            <a:off x="9052560" y="5149800"/>
            <a:ext cx="2258280" cy="68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θ: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자세 각도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s: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투영 크기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offset: 2D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위치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VETUS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최대 이동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28px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9" name="CustomShape 25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50" name="CustomShape 26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그림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VETUS debug/view 3.1~3.4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에서 선별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07  ENDPOINT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3.5~3.8 |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실제 윤곽과 팁 끝 재측정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정렬된 모델선은 탐색 가이드일 뿐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,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측정값은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query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영상에서 생성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4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CustomShape 5"/>
          <p:cNvSpPr/>
          <p:nvPr/>
        </p:nvSpPr>
        <p:spPr>
          <a:xfrm>
            <a:off x="567000" y="1600200"/>
            <a:ext cx="2605680" cy="25142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56" name="Picture 6" descr="s3_5_normal_search.jpg"/>
          <p:cNvPicPr/>
          <p:nvPr/>
        </p:nvPicPr>
        <p:blipFill>
          <a:blip r:embed="rId1"/>
          <a:stretch/>
        </p:blipFill>
        <p:spPr>
          <a:xfrm>
            <a:off x="567000" y="1647000"/>
            <a:ext cx="2605680" cy="2420280"/>
          </a:xfrm>
          <a:prstGeom prst="rect">
            <a:avLst/>
          </a:prstGeom>
          <a:ln>
            <a:noFill/>
          </a:ln>
        </p:spPr>
      </p:pic>
      <p:sp>
        <p:nvSpPr>
          <p:cNvPr id="257" name="CustomShape 6"/>
          <p:cNvSpPr/>
          <p:nvPr/>
        </p:nvSpPr>
        <p:spPr>
          <a:xfrm>
            <a:off x="3310200" y="1600200"/>
            <a:ext cx="2605680" cy="25142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58" name="Picture 8" descr="s3_6_chain_walk.jpg"/>
          <p:cNvPicPr/>
          <p:nvPr/>
        </p:nvPicPr>
        <p:blipFill>
          <a:blip r:embed="rId2"/>
          <a:stretch/>
        </p:blipFill>
        <p:spPr>
          <a:xfrm>
            <a:off x="3310200" y="1647000"/>
            <a:ext cx="2605680" cy="2420280"/>
          </a:xfrm>
          <a:prstGeom prst="rect">
            <a:avLst/>
          </a:prstGeom>
          <a:ln>
            <a:noFill/>
          </a:ln>
        </p:spPr>
      </p:pic>
      <p:sp>
        <p:nvSpPr>
          <p:cNvPr id="259" name="CustomShape 7"/>
          <p:cNvSpPr/>
          <p:nvPr/>
        </p:nvSpPr>
        <p:spPr>
          <a:xfrm>
            <a:off x="6053400" y="1600200"/>
            <a:ext cx="2605680" cy="25142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60" name="Picture 10" descr="s3_7_candidates.jpg"/>
          <p:cNvPicPr/>
          <p:nvPr/>
        </p:nvPicPr>
        <p:blipFill>
          <a:blip r:embed="rId3"/>
          <a:stretch/>
        </p:blipFill>
        <p:spPr>
          <a:xfrm>
            <a:off x="6053400" y="2206080"/>
            <a:ext cx="2605680" cy="1302840"/>
          </a:xfrm>
          <a:prstGeom prst="rect">
            <a:avLst/>
          </a:prstGeom>
          <a:ln>
            <a:noFill/>
          </a:ln>
        </p:spPr>
      </p:pic>
      <p:sp>
        <p:nvSpPr>
          <p:cNvPr id="261" name="CustomShape 8"/>
          <p:cNvSpPr/>
          <p:nvPr/>
        </p:nvSpPr>
        <p:spPr>
          <a:xfrm>
            <a:off x="8796600" y="1600200"/>
            <a:ext cx="2605680" cy="25142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62" name="Picture 12" descr="s3_8_ridge.jpg"/>
          <p:cNvPicPr/>
          <p:nvPr/>
        </p:nvPicPr>
        <p:blipFill>
          <a:blip r:embed="rId4"/>
          <a:stretch/>
        </p:blipFill>
        <p:spPr>
          <a:xfrm>
            <a:off x="8796600" y="2082960"/>
            <a:ext cx="2605680" cy="1548360"/>
          </a:xfrm>
          <a:prstGeom prst="rect">
            <a:avLst/>
          </a:prstGeom>
          <a:ln>
            <a:noFill/>
          </a:ln>
        </p:spPr>
      </p:pic>
      <p:sp>
        <p:nvSpPr>
          <p:cNvPr id="263" name="CustomShape 9"/>
          <p:cNvSpPr/>
          <p:nvPr/>
        </p:nvSpPr>
        <p:spPr>
          <a:xfrm>
            <a:off x="567000" y="4251960"/>
            <a:ext cx="26056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모델 직선의 법선 방향에서 실제 영상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edge 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재탐색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4" name="CustomShape 10"/>
          <p:cNvSpPr/>
          <p:nvPr/>
        </p:nvSpPr>
        <p:spPr>
          <a:xfrm>
            <a:off x="3310200" y="4251960"/>
            <a:ext cx="26056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Canny 8-neighbor least-turn walk + corridor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5" name="CustomShape 11"/>
          <p:cNvSpPr/>
          <p:nvPr/>
        </p:nvSpPr>
        <p:spPr>
          <a:xfrm>
            <a:off x="6053400" y="4251960"/>
            <a:ext cx="26056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양쪽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chain 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끝 평균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/ U-turn 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후보 생성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6" name="CustomShape 12"/>
          <p:cNvSpPr/>
          <p:nvPr/>
        </p:nvSpPr>
        <p:spPr>
          <a:xfrm>
            <a:off x="8796600" y="4251960"/>
            <a:ext cx="26056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가는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ridge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를 최대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20px 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연장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; 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조건부 채택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7" name="CustomShape 13"/>
          <p:cNvSpPr/>
          <p:nvPr/>
        </p:nvSpPr>
        <p:spPr>
          <a:xfrm>
            <a:off x="685800" y="4983480"/>
            <a:ext cx="7817760" cy="1023840"/>
          </a:xfrm>
          <a:prstGeom prst="roundRect">
            <a:avLst>
              <a:gd name="adj" fmla="val 16667"/>
            </a:avLst>
          </a:prstGeom>
          <a:solidFill>
            <a:srgbClr val="eff3f7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CustomShape 14"/>
          <p:cNvSpPr/>
          <p:nvPr/>
        </p:nvSpPr>
        <p:spPr>
          <a:xfrm>
            <a:off x="868680" y="5120640"/>
            <a:ext cx="1234080" cy="2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400" spc="-1" strike="noStrike">
                <a:solidFill>
                  <a:srgbClr val="2772bf"/>
                </a:solidFill>
                <a:latin typeface="NanumSquare"/>
              </a:rPr>
              <a:t>법선 탐색 로직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9" name="CustomShape 15"/>
          <p:cNvSpPr/>
          <p:nvPr/>
        </p:nvSpPr>
        <p:spPr>
          <a:xfrm>
            <a:off x="1965960" y="5083920"/>
            <a:ext cx="6309000" cy="43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200" spc="-1" strike="noStrike">
                <a:solidFill>
                  <a:srgbClr val="1f2a37"/>
                </a:solidFill>
                <a:latin typeface="NanumSquare"/>
              </a:rPr>
              <a:t>각 모델 샘플에서 단위 법선 </a:t>
            </a: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n </a:t>
            </a:r>
            <a:r>
              <a:rPr b="1" lang="ko-KR" sz="1200" spc="-1" strike="noStrike">
                <a:solidFill>
                  <a:srgbClr val="1f2a37"/>
                </a:solidFill>
                <a:latin typeface="NanumSquare"/>
              </a:rPr>
              <a:t>방향 </a:t>
            </a: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±5px </a:t>
            </a:r>
            <a:r>
              <a:rPr b="1" lang="ko-KR" sz="1200" spc="-1" strike="noStrike">
                <a:solidFill>
                  <a:srgbClr val="1f2a37"/>
                </a:solidFill>
                <a:latin typeface="NanumSquare"/>
              </a:rPr>
              <a:t>탐색 → 영상 밝기 </a:t>
            </a: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gradient g</a:t>
            </a:r>
            <a:r>
              <a:rPr b="1" lang="ko-KR" sz="1200" spc="-1" strike="noStrike">
                <a:solidFill>
                  <a:srgbClr val="1f2a37"/>
                </a:solidFill>
                <a:latin typeface="NanumSquare"/>
              </a:rPr>
              <a:t>와 법선의 내적 </a:t>
            </a: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|g·n|</a:t>
            </a:r>
            <a:r>
              <a:rPr b="1" lang="ko-KR" sz="1200" spc="-1" strike="noStrike">
                <a:solidFill>
                  <a:srgbClr val="1f2a37"/>
                </a:solidFill>
                <a:latin typeface="NanumSquare"/>
              </a:rPr>
              <a:t>이 최대인 위치를 실제 윤곽점으로 채택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0" name="CustomShape 16"/>
          <p:cNvSpPr/>
          <p:nvPr/>
        </p:nvSpPr>
        <p:spPr>
          <a:xfrm>
            <a:off x="914400" y="5532120"/>
            <a:ext cx="736056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5c6978"/>
                </a:solidFill>
                <a:latin typeface="NanumSquare"/>
              </a:rPr>
              <a:t>score ≥ 6, </a:t>
            </a:r>
            <a:r>
              <a:rPr b="0" lang="ko-KR" sz="1100" spc="-1" strike="noStrike">
                <a:solidFill>
                  <a:srgbClr val="5c6978"/>
                </a:solidFill>
                <a:latin typeface="NanumSquare"/>
              </a:rPr>
              <a:t>탐색창 끝 제외 </a:t>
            </a:r>
            <a:r>
              <a:rPr b="0" lang="en-US" sz="1100" spc="-1" strike="noStrike">
                <a:solidFill>
                  <a:srgbClr val="5c6978"/>
                </a:solidFill>
                <a:latin typeface="NanumSquare"/>
              </a:rPr>
              <a:t>· </a:t>
            </a:r>
            <a:r>
              <a:rPr b="0" lang="ko-KR" sz="1100" spc="-1" strike="noStrike">
                <a:solidFill>
                  <a:srgbClr val="5c6978"/>
                </a:solidFill>
                <a:latin typeface="NanumSquare"/>
              </a:rPr>
              <a:t>채택점 ≥ 샘플의 </a:t>
            </a:r>
            <a:r>
              <a:rPr b="0" lang="en-US" sz="1100" spc="-1" strike="noStrike">
                <a:solidFill>
                  <a:srgbClr val="5c6978"/>
                </a:solidFill>
                <a:latin typeface="NanumSquare"/>
              </a:rPr>
              <a:t>30%(</a:t>
            </a:r>
            <a:r>
              <a:rPr b="0" lang="ko-KR" sz="1100" spc="-1" strike="noStrike">
                <a:solidFill>
                  <a:srgbClr val="5c6978"/>
                </a:solidFill>
                <a:latin typeface="NanumSquare"/>
              </a:rPr>
              <a:t>최소 </a:t>
            </a:r>
            <a:r>
              <a:rPr b="0" lang="en-US" sz="1100" spc="-1" strike="noStrike">
                <a:solidFill>
                  <a:srgbClr val="5c6978"/>
                </a:solidFill>
                <a:latin typeface="NanumSquare"/>
              </a:rPr>
              <a:t>5</a:t>
            </a:r>
            <a:r>
              <a:rPr b="0" lang="ko-KR" sz="1100" spc="-1" strike="noStrike">
                <a:solidFill>
                  <a:srgbClr val="5c6978"/>
                </a:solidFill>
                <a:latin typeface="NanumSquare"/>
              </a:rPr>
              <a:t>개</a:t>
            </a:r>
            <a:r>
              <a:rPr b="0" lang="en-US" sz="1100" spc="-1" strike="noStrike">
                <a:solidFill>
                  <a:srgbClr val="5c6978"/>
                </a:solidFill>
                <a:latin typeface="NanumSquare"/>
              </a:rPr>
              <a:t>) → Huber line fit </a:t>
            </a:r>
            <a:r>
              <a:rPr b="0" lang="ko-KR" sz="1100" spc="-1" strike="noStrike">
                <a:solidFill>
                  <a:srgbClr val="5c6978"/>
                </a:solidFill>
                <a:latin typeface="NanumSquare"/>
              </a:rPr>
              <a:t>후 </a:t>
            </a:r>
            <a:r>
              <a:rPr b="0" lang="en-US" sz="1100" spc="-1" strike="noStrike">
                <a:solidFill>
                  <a:srgbClr val="5c6978"/>
                </a:solidFill>
                <a:latin typeface="NanumSquare"/>
              </a:rPr>
              <a:t>MAD </a:t>
            </a:r>
            <a:r>
              <a:rPr b="0" lang="ko-KR" sz="1100" spc="-1" strike="noStrike">
                <a:solidFill>
                  <a:srgbClr val="5c6978"/>
                </a:solidFill>
                <a:latin typeface="NanumSquare"/>
              </a:rPr>
              <a:t>이상점 제거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1" name="CustomShape 17"/>
          <p:cNvSpPr/>
          <p:nvPr/>
        </p:nvSpPr>
        <p:spPr>
          <a:xfrm>
            <a:off x="8705160" y="4983480"/>
            <a:ext cx="260568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CustomShape 18"/>
          <p:cNvSpPr/>
          <p:nvPr/>
        </p:nvSpPr>
        <p:spPr>
          <a:xfrm>
            <a:off x="8888040" y="5120640"/>
            <a:ext cx="2239920" cy="27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349669"/>
                </a:solidFill>
                <a:latin typeface="NanumSquare"/>
              </a:rPr>
              <a:t>000019 L tip2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3" name="CustomShape 19"/>
          <p:cNvSpPr/>
          <p:nvPr/>
        </p:nvSpPr>
        <p:spPr>
          <a:xfrm>
            <a:off x="8888040" y="5403960"/>
            <a:ext cx="223992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Canny 6.71px </a:t>
            </a:r>
            <a:r>
              <a:rPr b="1" lang="ko-KR" sz="1200" spc="-1" strike="noStrike">
                <a:solidFill>
                  <a:srgbClr val="1f2a37"/>
                </a:solidFill>
                <a:latin typeface="NanumSquare"/>
              </a:rPr>
              <a:t>오차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→ </a:t>
            </a: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ridge </a:t>
            </a:r>
            <a:r>
              <a:rPr b="1" lang="ko-KR" sz="1200" spc="-1" strike="noStrike">
                <a:solidFill>
                  <a:srgbClr val="1f2a37"/>
                </a:solidFill>
                <a:latin typeface="NanumSquare"/>
              </a:rPr>
              <a:t>후 </a:t>
            </a: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1.38px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4" name="CustomShape 20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07A  NORMAL SEARCH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6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3.5 |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법선 방향 </a:t>
            </a: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edge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재탐색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77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정렬된 모델 윤곽을 시작점으로 사용하고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, query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영상의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gradient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에서 실제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edge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위치를 다시 찾는다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8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CustomShape 5"/>
          <p:cNvSpPr/>
          <p:nvPr/>
        </p:nvSpPr>
        <p:spPr>
          <a:xfrm>
            <a:off x="594360" y="1554480"/>
            <a:ext cx="3794400" cy="34286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80" name="Picture 6" descr="000014_L_normal_search.png"/>
          <p:cNvPicPr/>
          <p:nvPr/>
        </p:nvPicPr>
        <p:blipFill>
          <a:blip r:embed="rId1"/>
          <a:stretch/>
        </p:blipFill>
        <p:spPr>
          <a:xfrm>
            <a:off x="645840" y="1554480"/>
            <a:ext cx="3691080" cy="3428640"/>
          </a:xfrm>
          <a:prstGeom prst="rect">
            <a:avLst/>
          </a:prstGeom>
          <a:ln>
            <a:noFill/>
          </a:ln>
        </p:spPr>
      </p:pic>
      <p:sp>
        <p:nvSpPr>
          <p:cNvPr id="281" name="CustomShape 6"/>
          <p:cNvSpPr/>
          <p:nvPr/>
        </p:nvSpPr>
        <p:spPr>
          <a:xfrm>
            <a:off x="4572000" y="1554480"/>
            <a:ext cx="3428640" cy="34286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82" name="Picture 8" descr="000014_L_normal_profiles.png"/>
          <p:cNvPicPr/>
          <p:nvPr/>
        </p:nvPicPr>
        <p:blipFill>
          <a:blip r:embed="rId2"/>
          <a:stretch/>
        </p:blipFill>
        <p:spPr>
          <a:xfrm>
            <a:off x="4572000" y="2572560"/>
            <a:ext cx="3428640" cy="1392840"/>
          </a:xfrm>
          <a:prstGeom prst="rect">
            <a:avLst/>
          </a:prstGeom>
          <a:ln>
            <a:noFill/>
          </a:ln>
        </p:spPr>
      </p:pic>
      <p:sp>
        <p:nvSpPr>
          <p:cNvPr id="283" name="CustomShape 7"/>
          <p:cNvSpPr/>
          <p:nvPr/>
        </p:nvSpPr>
        <p:spPr>
          <a:xfrm>
            <a:off x="8211240" y="1554480"/>
            <a:ext cx="3291480" cy="106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CustomShape 8"/>
          <p:cNvSpPr/>
          <p:nvPr/>
        </p:nvSpPr>
        <p:spPr>
          <a:xfrm>
            <a:off x="8211240" y="1554480"/>
            <a:ext cx="72720" cy="106020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CustomShape 9"/>
          <p:cNvSpPr/>
          <p:nvPr/>
        </p:nvSpPr>
        <p:spPr>
          <a:xfrm>
            <a:off x="8412480" y="1700640"/>
            <a:ext cx="297144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2772bf"/>
                </a:solidFill>
                <a:latin typeface="NanumSquare"/>
              </a:rPr>
              <a:t>① </a:t>
            </a:r>
            <a:r>
              <a:rPr b="1" lang="ko-KR" sz="1500" spc="-1" strike="noStrike">
                <a:solidFill>
                  <a:srgbClr val="2772bf"/>
                </a:solidFill>
                <a:latin typeface="NanumSquare"/>
              </a:rPr>
              <a:t>탐색선 생성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6" name="CustomShape 10"/>
          <p:cNvSpPr/>
          <p:nvPr/>
        </p:nvSpPr>
        <p:spPr>
          <a:xfrm>
            <a:off x="8412480" y="2121480"/>
            <a:ext cx="2944080" cy="40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모델 윤곽을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2px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간격으로 샘플링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각 점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pᵢ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에서 직선 방향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d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에 수직인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n = (−dᵧ, dₓ)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계산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7" name="CustomShape 11"/>
          <p:cNvSpPr/>
          <p:nvPr/>
        </p:nvSpPr>
        <p:spPr>
          <a:xfrm>
            <a:off x="8211240" y="2743200"/>
            <a:ext cx="3291480" cy="129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CustomShape 12"/>
          <p:cNvSpPr/>
          <p:nvPr/>
        </p:nvSpPr>
        <p:spPr>
          <a:xfrm>
            <a:off x="8211240" y="2743200"/>
            <a:ext cx="72720" cy="129816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9" name="CustomShape 13"/>
          <p:cNvSpPr/>
          <p:nvPr/>
        </p:nvSpPr>
        <p:spPr>
          <a:xfrm>
            <a:off x="8412480" y="2889360"/>
            <a:ext cx="297144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ea0be"/>
                </a:solidFill>
                <a:latin typeface="NanumSquare"/>
              </a:rPr>
              <a:t>② </a:t>
            </a:r>
            <a:r>
              <a:rPr b="1" lang="ko-KR" sz="1500" spc="-1" strike="noStrike">
                <a:solidFill>
                  <a:srgbClr val="1ea0be"/>
                </a:solidFill>
                <a:latin typeface="NanumSquare"/>
              </a:rPr>
              <a:t>영상 </a:t>
            </a:r>
            <a:r>
              <a:rPr b="1" lang="en-US" sz="1500" spc="-1" strike="noStrike">
                <a:solidFill>
                  <a:srgbClr val="1ea0be"/>
                </a:solidFill>
                <a:latin typeface="NanumSquare"/>
              </a:rPr>
              <a:t>edge score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0" name="CustomShape 14"/>
          <p:cNvSpPr/>
          <p:nvPr/>
        </p:nvSpPr>
        <p:spPr>
          <a:xfrm>
            <a:off x="8412480" y="3310200"/>
            <a:ext cx="294408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g=(gₓ,gᵧ):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후보 픽셀의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Sobel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밝기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gradient</a:t>
            </a:r>
            <a:endParaRPr b="0" lang="en-US" sz="900" spc="-1" strike="noStrike">
              <a:latin typeface="Arial"/>
            </a:endParaRPr>
          </a:p>
          <a:p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n=(nₓ,nᵧ):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모델 윤곽의 단위 법선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score=|g·n|=|gₓnₓ+gᵧnᵧ|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1" name="CustomShape 15"/>
          <p:cNvSpPr/>
          <p:nvPr/>
        </p:nvSpPr>
        <p:spPr>
          <a:xfrm>
            <a:off x="8211240" y="4169520"/>
            <a:ext cx="32914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CustomShape 16"/>
          <p:cNvSpPr/>
          <p:nvPr/>
        </p:nvSpPr>
        <p:spPr>
          <a:xfrm>
            <a:off x="8211240" y="4169520"/>
            <a:ext cx="72720" cy="111528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CustomShape 17"/>
          <p:cNvSpPr/>
          <p:nvPr/>
        </p:nvSpPr>
        <p:spPr>
          <a:xfrm>
            <a:off x="8412480" y="4316040"/>
            <a:ext cx="297144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ee902b"/>
                </a:solidFill>
                <a:latin typeface="NanumSquare"/>
              </a:rPr>
              <a:t>③ </a:t>
            </a:r>
            <a:r>
              <a:rPr b="1" lang="ko-KR" sz="1400" spc="-1" strike="noStrike">
                <a:solidFill>
                  <a:srgbClr val="ee902b"/>
                </a:solidFill>
                <a:latin typeface="NanumSquare"/>
              </a:rPr>
              <a:t>선택과 유효점 판정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4" name="CustomShape 18"/>
          <p:cNvSpPr/>
          <p:nvPr/>
        </p:nvSpPr>
        <p:spPr>
          <a:xfrm>
            <a:off x="8412480" y="4736520"/>
            <a:ext cx="2944080" cy="48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법선 방향 밝기 변화가 가장 큰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score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최대점을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edge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로 선택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절댓값은 밝→어둠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/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어둠→밝음 모두 허용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. score ≥ 6,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창 끝 제외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5" name="CustomShape 19"/>
          <p:cNvSpPr/>
          <p:nvPr/>
        </p:nvSpPr>
        <p:spPr>
          <a:xfrm>
            <a:off x="713160" y="5413320"/>
            <a:ext cx="10716480" cy="566640"/>
          </a:xfrm>
          <a:prstGeom prst="roundRect">
            <a:avLst>
              <a:gd name="adj" fmla="val 16667"/>
            </a:avLst>
          </a:prstGeom>
          <a:solidFill>
            <a:srgbClr val="eff3f7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6" name="CustomShape 20"/>
          <p:cNvSpPr/>
          <p:nvPr/>
        </p:nvSpPr>
        <p:spPr>
          <a:xfrm>
            <a:off x="914400" y="5559480"/>
            <a:ext cx="10314000" cy="2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④ 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유효점 ≥ 샘플의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30%(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최소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5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개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) → Huber line fitting → MAD 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이상점 제거 → 팁 축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u = unit(d₁+d₂)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7" name="CustomShape 21"/>
          <p:cNvSpPr/>
          <p:nvPr/>
        </p:nvSpPr>
        <p:spPr>
          <a:xfrm>
            <a:off x="749880" y="6016680"/>
            <a:ext cx="10652400" cy="21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※ </a:t>
            </a: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MAD (Median Absolute Deviation): </a:t>
            </a:r>
            <a:r>
              <a:rPr b="0" lang="ko-KR" sz="900" spc="-1" strike="noStrike">
                <a:solidFill>
                  <a:srgbClr val="5c6978"/>
                </a:solidFill>
                <a:latin typeface="NanumSquare"/>
              </a:rPr>
              <a:t>잔차의 중앙값으로부터 절대편차의 중앙값</a:t>
            </a: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. </a:t>
            </a:r>
            <a:r>
              <a:rPr b="0" lang="ko-KR" sz="900" spc="-1" strike="noStrike">
                <a:solidFill>
                  <a:srgbClr val="5c6978"/>
                </a:solidFill>
                <a:latin typeface="NanumSquare"/>
              </a:rPr>
              <a:t>큰 잔차를 가진 윤곽점을 이상점으로 판별하는 </a:t>
            </a: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robust </a:t>
            </a:r>
            <a:r>
              <a:rPr b="0" lang="ko-KR" sz="900" spc="-1" strike="noStrike">
                <a:solidFill>
                  <a:srgbClr val="5c6978"/>
                </a:solidFill>
                <a:latin typeface="NanumSquare"/>
              </a:rPr>
              <a:t>통계량</a:t>
            </a: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8" name="CustomShape 22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9" name="CustomShape 23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왼쪽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법선 탐색 구간과 채택점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·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가운데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샘플별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gradient profile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07B  CHAIN WALK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3.6 | Canny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사슬 추적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02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윤곽선 위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seed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에서 시작해 가장 덜 꺾이는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Canny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이웃을 따라 팁 끝까지 이동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3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CustomShape 5"/>
          <p:cNvSpPr/>
          <p:nvPr/>
        </p:nvSpPr>
        <p:spPr>
          <a:xfrm>
            <a:off x="594360" y="1554480"/>
            <a:ext cx="3885840" cy="38858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05" name="Picture 6" descr="000019_L_chain_walk.png"/>
          <p:cNvPicPr/>
          <p:nvPr/>
        </p:nvPicPr>
        <p:blipFill>
          <a:blip r:embed="rId1"/>
          <a:stretch/>
        </p:blipFill>
        <p:spPr>
          <a:xfrm>
            <a:off x="594360" y="1569600"/>
            <a:ext cx="3885840" cy="3855600"/>
          </a:xfrm>
          <a:prstGeom prst="rect">
            <a:avLst/>
          </a:prstGeom>
          <a:ln>
            <a:noFill/>
          </a:ln>
        </p:spPr>
      </p:pic>
      <p:sp>
        <p:nvSpPr>
          <p:cNvPr id="306" name="CustomShape 6"/>
          <p:cNvSpPr/>
          <p:nvPr/>
        </p:nvSpPr>
        <p:spPr>
          <a:xfrm>
            <a:off x="4663440" y="1554480"/>
            <a:ext cx="3245760" cy="38858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07" name="Picture 8" descr="000019_L_zoom_ends.png"/>
          <p:cNvPicPr/>
          <p:nvPr/>
        </p:nvPicPr>
        <p:blipFill>
          <a:blip r:embed="rId2"/>
          <a:stretch/>
        </p:blipFill>
        <p:spPr>
          <a:xfrm>
            <a:off x="4663440" y="2685960"/>
            <a:ext cx="3245760" cy="1622880"/>
          </a:xfrm>
          <a:prstGeom prst="rect">
            <a:avLst/>
          </a:prstGeom>
          <a:ln>
            <a:noFill/>
          </a:ln>
        </p:spPr>
      </p:pic>
      <p:sp>
        <p:nvSpPr>
          <p:cNvPr id="308" name="CustomShape 7"/>
          <p:cNvSpPr/>
          <p:nvPr/>
        </p:nvSpPr>
        <p:spPr>
          <a:xfrm>
            <a:off x="8119800" y="1554480"/>
            <a:ext cx="333720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9" name="CustomShape 8"/>
          <p:cNvSpPr/>
          <p:nvPr/>
        </p:nvSpPr>
        <p:spPr>
          <a:xfrm>
            <a:off x="8119800" y="1554480"/>
            <a:ext cx="72720" cy="98712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CustomShape 9"/>
          <p:cNvSpPr/>
          <p:nvPr/>
        </p:nvSpPr>
        <p:spPr>
          <a:xfrm>
            <a:off x="8321040" y="1700640"/>
            <a:ext cx="30171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2772bf"/>
                </a:solidFill>
                <a:latin typeface="NanumSquare"/>
              </a:rPr>
              <a:t>① </a:t>
            </a:r>
            <a:r>
              <a:rPr b="1" lang="en-US" sz="1400" spc="-1" strike="noStrike">
                <a:solidFill>
                  <a:srgbClr val="2772bf"/>
                </a:solidFill>
                <a:latin typeface="NanumSquare"/>
              </a:rPr>
              <a:t>Seed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1" name="CustomShape 10"/>
          <p:cNvSpPr/>
          <p:nvPr/>
        </p:nvSpPr>
        <p:spPr>
          <a:xfrm>
            <a:off x="8321040" y="2121480"/>
            <a:ext cx="2989800" cy="37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윤곽선에서 팁 방향으로 가장 먼 점보다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15px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뒤에서 시작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주변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7×7 Canny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중 가장 가까운 픽셀 선택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8119800" y="2670120"/>
            <a:ext cx="333720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CustomShape 12"/>
          <p:cNvSpPr/>
          <p:nvPr/>
        </p:nvSpPr>
        <p:spPr>
          <a:xfrm>
            <a:off x="8119800" y="2670120"/>
            <a:ext cx="72720" cy="98712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4" name="CustomShape 13"/>
          <p:cNvSpPr/>
          <p:nvPr/>
        </p:nvSpPr>
        <p:spPr>
          <a:xfrm>
            <a:off x="8321040" y="2816280"/>
            <a:ext cx="30171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②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Least-turn walk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5" name="CustomShape 14"/>
          <p:cNvSpPr/>
          <p:nvPr/>
        </p:nvSpPr>
        <p:spPr>
          <a:xfrm>
            <a:off x="8321040" y="3237120"/>
            <a:ext cx="2989800" cy="37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8-neighbor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중 현재 진행 방향과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cosine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이 가장 큰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,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즉 가장 덜 꺾이는 미방문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edge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픽셀로 이동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6" name="CustomShape 15"/>
          <p:cNvSpPr/>
          <p:nvPr/>
        </p:nvSpPr>
        <p:spPr>
          <a:xfrm>
            <a:off x="8119800" y="3785760"/>
            <a:ext cx="333720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CustomShape 16"/>
          <p:cNvSpPr/>
          <p:nvPr/>
        </p:nvSpPr>
        <p:spPr>
          <a:xfrm>
            <a:off x="8119800" y="3785760"/>
            <a:ext cx="72720" cy="98712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CustomShape 17"/>
          <p:cNvSpPr/>
          <p:nvPr/>
        </p:nvSpPr>
        <p:spPr>
          <a:xfrm>
            <a:off x="8321040" y="3931920"/>
            <a:ext cx="30171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ea0be"/>
                </a:solidFill>
                <a:latin typeface="NanumSquare"/>
              </a:rPr>
              <a:t>③ </a:t>
            </a:r>
            <a:r>
              <a:rPr b="1" lang="en-US" sz="1400" spc="-1" strike="noStrike">
                <a:solidFill>
                  <a:srgbClr val="1ea0be"/>
                </a:solidFill>
                <a:latin typeface="NanumSquare"/>
              </a:rPr>
              <a:t>Self corridor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9" name="CustomShape 18"/>
          <p:cNvSpPr/>
          <p:nvPr/>
        </p:nvSpPr>
        <p:spPr>
          <a:xfrm>
            <a:off x="8321040" y="4352400"/>
            <a:ext cx="2989800" cy="37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처음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12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점으로 직선을 맞춘 뒤 그 선 기준 바깥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2px,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물체 안쪽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6px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복도 안에서만 추적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0" name="CustomShape 19"/>
          <p:cNvSpPr/>
          <p:nvPr/>
        </p:nvSpPr>
        <p:spPr>
          <a:xfrm>
            <a:off x="8119800" y="4901040"/>
            <a:ext cx="333720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CustomShape 20"/>
          <p:cNvSpPr/>
          <p:nvPr/>
        </p:nvSpPr>
        <p:spPr>
          <a:xfrm>
            <a:off x="8119800" y="4901040"/>
            <a:ext cx="72720" cy="98712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CustomShape 21"/>
          <p:cNvSpPr/>
          <p:nvPr/>
        </p:nvSpPr>
        <p:spPr>
          <a:xfrm>
            <a:off x="8321040" y="5047560"/>
            <a:ext cx="30171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ee902b"/>
                </a:solidFill>
                <a:latin typeface="NanumSquare"/>
              </a:rPr>
              <a:t>④ </a:t>
            </a:r>
            <a:r>
              <a:rPr b="1" lang="ko-KR" sz="1400" spc="-1" strike="noStrike">
                <a:solidFill>
                  <a:srgbClr val="ee902b"/>
                </a:solidFill>
                <a:latin typeface="NanumSquare"/>
              </a:rPr>
              <a:t>종료</a:t>
            </a:r>
            <a:r>
              <a:rPr b="1" lang="en-US" sz="1400" spc="-1" strike="noStrike">
                <a:solidFill>
                  <a:srgbClr val="ee902b"/>
                </a:solidFill>
                <a:latin typeface="NanumSquare"/>
              </a:rPr>
              <a:t>·</a:t>
            </a:r>
            <a:r>
              <a:rPr b="1" lang="ko-KR" sz="1400" spc="-1" strike="noStrike">
                <a:solidFill>
                  <a:srgbClr val="ee902b"/>
                </a:solidFill>
                <a:latin typeface="NanumSquare"/>
              </a:rPr>
              <a:t>끝점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3" name="CustomShape 22"/>
          <p:cNvSpPr/>
          <p:nvPr/>
        </p:nvSpPr>
        <p:spPr>
          <a:xfrm>
            <a:off x="8321040" y="5468040"/>
            <a:ext cx="298980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갈 이웃이 없거나 최대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step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도달 시 종료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. path·u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가 최대인 점이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chain end. &gt;90°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회전 후 ≥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3px </a:t>
            </a:r>
            <a:r>
              <a:rPr b="0" lang="ko-KR" sz="900" spc="-1" strike="noStrike">
                <a:solidFill>
                  <a:srgbClr val="1f2a37"/>
                </a:solidFill>
                <a:latin typeface="NanumSquare"/>
              </a:rPr>
              <a:t>후퇴하면 </a:t>
            </a:r>
            <a:r>
              <a:rPr b="0" lang="en-US" sz="900" spc="-1" strike="noStrike">
                <a:solidFill>
                  <a:srgbClr val="1f2a37"/>
                </a:solidFill>
                <a:latin typeface="NanumSquare"/>
              </a:rPr>
              <a:t>U-turn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4" name="CustomShape 23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5" name="CustomShape 24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복도는 다른 물체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edge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로 새는 것을 막고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, U-turn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은 팁 끝을 돌아간 사슬을 판별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07C  END CANDIDATES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7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3.7 |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팁 끝점 후보 생성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양쪽 윤곽 사슬의 끝과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U-turn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정보를 조합해 기본점과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stereo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선택용 후보를 만든다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CustomShape 5"/>
          <p:cNvSpPr/>
          <p:nvPr/>
        </p:nvSpPr>
        <p:spPr>
          <a:xfrm>
            <a:off x="594360" y="1600200"/>
            <a:ext cx="6674760" cy="43430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31" name="Picture 6" descr="000019_L_candidates.png"/>
          <p:cNvPicPr/>
          <p:nvPr/>
        </p:nvPicPr>
        <p:blipFill>
          <a:blip r:embed="rId1"/>
          <a:stretch/>
        </p:blipFill>
        <p:spPr>
          <a:xfrm>
            <a:off x="594360" y="2103120"/>
            <a:ext cx="6674760" cy="3337200"/>
          </a:xfrm>
          <a:prstGeom prst="rect">
            <a:avLst/>
          </a:prstGeom>
          <a:ln>
            <a:noFill/>
          </a:ln>
        </p:spPr>
      </p:pic>
      <p:sp>
        <p:nvSpPr>
          <p:cNvPr id="332" name="CustomShape 6"/>
          <p:cNvSpPr/>
          <p:nvPr/>
        </p:nvSpPr>
        <p:spPr>
          <a:xfrm>
            <a:off x="7516440" y="1600200"/>
            <a:ext cx="379440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CustomShape 7"/>
          <p:cNvSpPr/>
          <p:nvPr/>
        </p:nvSpPr>
        <p:spPr>
          <a:xfrm>
            <a:off x="7516440" y="1600200"/>
            <a:ext cx="72720" cy="107856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4" name="CustomShape 8"/>
          <p:cNvSpPr/>
          <p:nvPr/>
        </p:nvSpPr>
        <p:spPr>
          <a:xfrm>
            <a:off x="7717680" y="1746360"/>
            <a:ext cx="347436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2772bf"/>
                </a:solidFill>
                <a:latin typeface="NanumSquare"/>
              </a:rPr>
              <a:t>Case A · </a:t>
            </a:r>
            <a:r>
              <a:rPr b="1" lang="ko-KR" sz="1500" spc="-1" strike="noStrike">
                <a:solidFill>
                  <a:srgbClr val="2772bf"/>
                </a:solidFill>
                <a:latin typeface="NanumSquare"/>
              </a:rPr>
              <a:t>두 끝이 가까움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35" name="CustomShape 9"/>
          <p:cNvSpPr/>
          <p:nvPr/>
        </p:nvSpPr>
        <p:spPr>
          <a:xfrm>
            <a:off x="7717680" y="2167200"/>
            <a:ext cx="3447000" cy="43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두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side chain end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사이 거리 ≤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4px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→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두 점의 평균을 기본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endpoint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로 사용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6" name="CustomShape 10"/>
          <p:cNvSpPr/>
          <p:nvPr/>
        </p:nvSpPr>
        <p:spPr>
          <a:xfrm>
            <a:off x="7516440" y="2816280"/>
            <a:ext cx="379440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CustomShape 11"/>
          <p:cNvSpPr/>
          <p:nvPr/>
        </p:nvSpPr>
        <p:spPr>
          <a:xfrm>
            <a:off x="7516440" y="2816280"/>
            <a:ext cx="72720" cy="107856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CustomShape 12"/>
          <p:cNvSpPr/>
          <p:nvPr/>
        </p:nvSpPr>
        <p:spPr>
          <a:xfrm>
            <a:off x="7717680" y="2962800"/>
            <a:ext cx="347436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349669"/>
                </a:solidFill>
                <a:latin typeface="NanumSquare"/>
              </a:rPr>
              <a:t>Case B · </a:t>
            </a:r>
            <a:r>
              <a:rPr b="1" lang="ko-KR" sz="1500" spc="-1" strike="noStrike">
                <a:solidFill>
                  <a:srgbClr val="349669"/>
                </a:solidFill>
                <a:latin typeface="NanumSquare"/>
              </a:rPr>
              <a:t>한쪽만 </a:t>
            </a:r>
            <a:r>
              <a:rPr b="1" lang="en-US" sz="1500" spc="-1" strike="noStrike">
                <a:solidFill>
                  <a:srgbClr val="349669"/>
                </a:solidFill>
                <a:latin typeface="NanumSquare"/>
              </a:rPr>
              <a:t>U-turn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39" name="CustomShape 13"/>
          <p:cNvSpPr/>
          <p:nvPr/>
        </p:nvSpPr>
        <p:spPr>
          <a:xfrm>
            <a:off x="7717680" y="3383280"/>
            <a:ext cx="3447000" cy="43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두 끝의 거리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&gt; 4px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이고 한 사슬만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U-turn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→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팁 끝을 돌아간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U-turn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쪽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endpoint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채택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0" name="CustomShape 14"/>
          <p:cNvSpPr/>
          <p:nvPr/>
        </p:nvSpPr>
        <p:spPr>
          <a:xfrm>
            <a:off x="7516440" y="4032360"/>
            <a:ext cx="379440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CustomShape 15"/>
          <p:cNvSpPr/>
          <p:nvPr/>
        </p:nvSpPr>
        <p:spPr>
          <a:xfrm>
            <a:off x="7516440" y="4032360"/>
            <a:ext cx="72720" cy="107856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2" name="CustomShape 16"/>
          <p:cNvSpPr/>
          <p:nvPr/>
        </p:nvSpPr>
        <p:spPr>
          <a:xfrm>
            <a:off x="7717680" y="4178880"/>
            <a:ext cx="347436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ee902b"/>
                </a:solidFill>
                <a:latin typeface="NanumSquare"/>
              </a:rPr>
              <a:t>Case C · </a:t>
            </a:r>
            <a:r>
              <a:rPr b="1" lang="ko-KR" sz="1500" spc="-1" strike="noStrike">
                <a:solidFill>
                  <a:srgbClr val="ee902b"/>
                </a:solidFill>
                <a:latin typeface="NanumSquare"/>
              </a:rPr>
              <a:t>모호한 경우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43" name="CustomShape 17"/>
          <p:cNvSpPr/>
          <p:nvPr/>
        </p:nvSpPr>
        <p:spPr>
          <a:xfrm>
            <a:off x="7717680" y="4599360"/>
            <a:ext cx="3447000" cy="43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U-turn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판정이 같으면 두 끝의 평균을 기본값으로 두고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,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각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side end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도 별도 후보 목록에 보존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4" name="CustomShape 18"/>
          <p:cNvSpPr/>
          <p:nvPr/>
        </p:nvSpPr>
        <p:spPr>
          <a:xfrm>
            <a:off x="7516440" y="5330880"/>
            <a:ext cx="3794400" cy="612360"/>
          </a:xfrm>
          <a:prstGeom prst="roundRect">
            <a:avLst>
              <a:gd name="adj" fmla="val 16667"/>
            </a:avLst>
          </a:prstGeom>
          <a:solidFill>
            <a:srgbClr val="eff3f7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5" name="CustomShape 19"/>
          <p:cNvSpPr/>
          <p:nvPr/>
        </p:nvSpPr>
        <p:spPr>
          <a:xfrm>
            <a:off x="7662600" y="5495400"/>
            <a:ext cx="3492720" cy="46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다음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4.1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에서 </a:t>
            </a:r>
            <a:r>
              <a:rPr b="1" lang="en-US" sz="1300" spc="-1" strike="noStrike">
                <a:solidFill>
                  <a:srgbClr val="121f31"/>
                </a:solidFill>
                <a:latin typeface="NanumSquare"/>
              </a:rPr>
              <a:t>L/R </a:t>
            </a:r>
            <a:r>
              <a:rPr b="1" lang="ko-KR" sz="1300" spc="-1" strike="noStrike">
                <a:solidFill>
                  <a:srgbClr val="121f31"/>
                </a:solidFill>
                <a:latin typeface="NanumSquare"/>
              </a:rPr>
              <a:t>행 차이가 가장 작은 후보 쌍을 선택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6" name="CustomShape 20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7" name="CustomShape 21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노란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+: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기본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endpoint ·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노란 원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추가 후보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·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흰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x: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클릭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GT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07D  RIDGE EXTENSION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9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3.8 | Ridge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연장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50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Canny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가 놓친 가늘고 흐린 팁 끝을 축 방향의 국소 밝기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ridge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로 보완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51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2" name="CustomShape 5"/>
          <p:cNvSpPr/>
          <p:nvPr/>
        </p:nvSpPr>
        <p:spPr>
          <a:xfrm>
            <a:off x="594360" y="1572840"/>
            <a:ext cx="6171840" cy="431568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53" name="Picture 6" descr="000019_L_ridge.png"/>
          <p:cNvPicPr/>
          <p:nvPr/>
        </p:nvPicPr>
        <p:blipFill>
          <a:blip r:embed="rId1"/>
          <a:stretch/>
        </p:blipFill>
        <p:spPr>
          <a:xfrm>
            <a:off x="594360" y="1896120"/>
            <a:ext cx="6171840" cy="3669120"/>
          </a:xfrm>
          <a:prstGeom prst="rect">
            <a:avLst/>
          </a:prstGeom>
          <a:ln>
            <a:noFill/>
          </a:ln>
        </p:spPr>
      </p:pic>
      <p:sp>
        <p:nvSpPr>
          <p:cNvPr id="354" name="CustomShape 6"/>
          <p:cNvSpPr/>
          <p:nvPr/>
        </p:nvSpPr>
        <p:spPr>
          <a:xfrm>
            <a:off x="7022520" y="1572840"/>
            <a:ext cx="43156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CustomShape 7"/>
          <p:cNvSpPr/>
          <p:nvPr/>
        </p:nvSpPr>
        <p:spPr>
          <a:xfrm>
            <a:off x="7022520" y="1572840"/>
            <a:ext cx="72720" cy="95976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CustomShape 8"/>
          <p:cNvSpPr/>
          <p:nvPr/>
        </p:nvSpPr>
        <p:spPr>
          <a:xfrm>
            <a:off x="7223760" y="1719000"/>
            <a:ext cx="399564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2772bf"/>
                </a:solidFill>
                <a:latin typeface="NanumSquare"/>
              </a:rPr>
              <a:t>① </a:t>
            </a:r>
            <a:r>
              <a:rPr b="1" lang="ko-KR" sz="1500" spc="-1" strike="noStrike">
                <a:solidFill>
                  <a:srgbClr val="2772bf"/>
                </a:solidFill>
                <a:latin typeface="NanumSquare"/>
              </a:rPr>
              <a:t>전진 </a:t>
            </a:r>
            <a:r>
              <a:rPr b="1" lang="en-US" sz="1500" spc="-1" strike="noStrike">
                <a:solidFill>
                  <a:srgbClr val="2772bf"/>
                </a:solidFill>
                <a:latin typeface="NanumSquare"/>
              </a:rPr>
              <a:t>sampling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57" name="CustomShape 9"/>
          <p:cNvSpPr/>
          <p:nvPr/>
        </p:nvSpPr>
        <p:spPr>
          <a:xfrm>
            <a:off x="7223760" y="2139840"/>
            <a:ext cx="396828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선택된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chain end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에서 팁 축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u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방향으로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0.5px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씩 최대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20px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전진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8" name="CustomShape 10"/>
          <p:cNvSpPr/>
          <p:nvPr/>
        </p:nvSpPr>
        <p:spPr>
          <a:xfrm>
            <a:off x="7022520" y="2660760"/>
            <a:ext cx="43156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CustomShape 11"/>
          <p:cNvSpPr/>
          <p:nvPr/>
        </p:nvSpPr>
        <p:spPr>
          <a:xfrm>
            <a:off x="7022520" y="2660760"/>
            <a:ext cx="72720" cy="95976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CustomShape 12"/>
          <p:cNvSpPr/>
          <p:nvPr/>
        </p:nvSpPr>
        <p:spPr>
          <a:xfrm>
            <a:off x="7223760" y="2807280"/>
            <a:ext cx="399564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ea0be"/>
                </a:solidFill>
                <a:latin typeface="NanumSquare"/>
              </a:rPr>
              <a:t>② </a:t>
            </a:r>
            <a:r>
              <a:rPr b="1" lang="ko-KR" sz="1500" spc="-1" strike="noStrike">
                <a:solidFill>
                  <a:srgbClr val="1ea0be"/>
                </a:solidFill>
                <a:latin typeface="NanumSquare"/>
              </a:rPr>
              <a:t>횡단 </a:t>
            </a:r>
            <a:r>
              <a:rPr b="1" lang="en-US" sz="1500" spc="-1" strike="noStrike">
                <a:solidFill>
                  <a:srgbClr val="1ea0be"/>
                </a:solidFill>
                <a:latin typeface="NanumSquare"/>
              </a:rPr>
              <a:t>profile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61" name="CustomShape 13"/>
          <p:cNvSpPr/>
          <p:nvPr/>
        </p:nvSpPr>
        <p:spPr>
          <a:xfrm>
            <a:off x="7223760" y="3227760"/>
            <a:ext cx="3968280" cy="40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각 위치에서 축의 수직 방향으로 팁 폭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profile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을 읽고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,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양옆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background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의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median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과 비교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62" name="CustomShape 14"/>
          <p:cNvSpPr/>
          <p:nvPr/>
        </p:nvSpPr>
        <p:spPr>
          <a:xfrm>
            <a:off x="7022520" y="3749040"/>
            <a:ext cx="43156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3" name="CustomShape 15"/>
          <p:cNvSpPr/>
          <p:nvPr/>
        </p:nvSpPr>
        <p:spPr>
          <a:xfrm>
            <a:off x="7022520" y="3749040"/>
            <a:ext cx="72720" cy="95976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CustomShape 16"/>
          <p:cNvSpPr/>
          <p:nvPr/>
        </p:nvSpPr>
        <p:spPr>
          <a:xfrm>
            <a:off x="7223760" y="3895200"/>
            <a:ext cx="399564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349669"/>
                </a:solidFill>
                <a:latin typeface="NanumSquare"/>
              </a:rPr>
              <a:t>③ </a:t>
            </a:r>
            <a:r>
              <a:rPr b="1" lang="en-US" sz="1500" spc="-1" strike="noStrike">
                <a:solidFill>
                  <a:srgbClr val="349669"/>
                </a:solidFill>
                <a:latin typeface="NanumSquare"/>
              </a:rPr>
              <a:t>Ridge </a:t>
            </a:r>
            <a:r>
              <a:rPr b="1" lang="ko-KR" sz="1500" spc="-1" strike="noStrike">
                <a:solidFill>
                  <a:srgbClr val="349669"/>
                </a:solidFill>
                <a:latin typeface="NanumSquare"/>
              </a:rPr>
              <a:t>판정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65" name="CustomShape 17"/>
          <p:cNvSpPr/>
          <p:nvPr/>
        </p:nvSpPr>
        <p:spPr>
          <a:xfrm>
            <a:off x="7223760" y="4316040"/>
            <a:ext cx="3968280" cy="40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중앙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profile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과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flank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차이 ≥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6 gray,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양쪽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flank 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차이 </a:t>
            </a:r>
            <a:r>
              <a:rPr b="0" lang="en-US" sz="1100" spc="-1" strike="noStrike">
                <a:solidFill>
                  <a:srgbClr val="1f2a37"/>
                </a:solidFill>
                <a:latin typeface="NanumSquare"/>
              </a:rPr>
              <a:t>&lt; 6</a:t>
            </a:r>
            <a:r>
              <a:rPr b="0" lang="ko-KR" sz="1100" spc="-1" strike="noStrike">
                <a:solidFill>
                  <a:srgbClr val="1f2a37"/>
                </a:solidFill>
                <a:latin typeface="NanumSquare"/>
              </a:rPr>
              <a:t>일 때 가는 선이 이어진 것으로 판정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66" name="CustomShape 18"/>
          <p:cNvSpPr/>
          <p:nvPr/>
        </p:nvSpPr>
        <p:spPr>
          <a:xfrm>
            <a:off x="7022520" y="4837320"/>
            <a:ext cx="43156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CustomShape 19"/>
          <p:cNvSpPr/>
          <p:nvPr/>
        </p:nvSpPr>
        <p:spPr>
          <a:xfrm>
            <a:off x="7022520" y="4837320"/>
            <a:ext cx="72720" cy="95976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8" name="CustomShape 20"/>
          <p:cNvSpPr/>
          <p:nvPr/>
        </p:nvSpPr>
        <p:spPr>
          <a:xfrm>
            <a:off x="7223760" y="4983480"/>
            <a:ext cx="399564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ee902b"/>
                </a:solidFill>
                <a:latin typeface="NanumSquare"/>
              </a:rPr>
              <a:t>④ </a:t>
            </a:r>
            <a:r>
              <a:rPr b="1" lang="ko-KR" sz="1500" spc="-1" strike="noStrike">
                <a:solidFill>
                  <a:srgbClr val="ee902b"/>
                </a:solidFill>
                <a:latin typeface="NanumSquare"/>
              </a:rPr>
              <a:t>조건부 사용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69" name="CustomShape 21"/>
          <p:cNvSpPr/>
          <p:nvPr/>
        </p:nvSpPr>
        <p:spPr>
          <a:xfrm>
            <a:off x="7223760" y="5403960"/>
            <a:ext cx="3968280" cy="37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마지막 유효점을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ridge end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로 저장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. 2px gap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은 허용하되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,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항상 쓰지 않고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4.2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의 </a:t>
            </a:r>
            <a:r>
              <a:rPr b="0" lang="en-US" sz="1000" spc="-1" strike="noStrike">
                <a:solidFill>
                  <a:srgbClr val="1f2a37"/>
                </a:solidFill>
                <a:latin typeface="NanumSquare"/>
              </a:rPr>
              <a:t>L/R </a:t>
            </a:r>
            <a:r>
              <a:rPr b="0" lang="ko-KR" sz="1000" spc="-1" strike="noStrike">
                <a:solidFill>
                  <a:srgbClr val="1f2a37"/>
                </a:solidFill>
                <a:latin typeface="NanumSquare"/>
              </a:rPr>
              <a:t>행 일치가 좋아질 때만 채택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0" name="CustomShape 22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71" name="CustomShape 23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000019 L tip2: walk–GT 6.71px → ridge–GT 1.38px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08  STEREO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3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4.1~4.4 | Rectified stereo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제약으로 후보를 선택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74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실제 대응점은 왼쪽과 오른쪽 영상에서 같은 행에 존재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5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CustomShape 5"/>
          <p:cNvSpPr/>
          <p:nvPr/>
        </p:nvSpPr>
        <p:spPr>
          <a:xfrm>
            <a:off x="658440" y="1572840"/>
            <a:ext cx="10881000" cy="196560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77" name="Picture 6" descr="scene_stereo_rows.jpg"/>
          <p:cNvPicPr/>
          <p:nvPr/>
        </p:nvPicPr>
        <p:blipFill>
          <a:blip r:embed="rId1"/>
          <a:stretch/>
        </p:blipFill>
        <p:spPr>
          <a:xfrm>
            <a:off x="2597400" y="1572840"/>
            <a:ext cx="7003080" cy="1965600"/>
          </a:xfrm>
          <a:prstGeom prst="rect">
            <a:avLst/>
          </a:prstGeom>
          <a:ln>
            <a:noFill/>
          </a:ln>
        </p:spPr>
      </p:pic>
      <p:sp>
        <p:nvSpPr>
          <p:cNvPr id="378" name="CustomShape 6"/>
          <p:cNvSpPr/>
          <p:nvPr/>
        </p:nvSpPr>
        <p:spPr>
          <a:xfrm>
            <a:off x="658440" y="3840480"/>
            <a:ext cx="26056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9" name="CustomShape 7"/>
          <p:cNvSpPr/>
          <p:nvPr/>
        </p:nvSpPr>
        <p:spPr>
          <a:xfrm>
            <a:off x="658440" y="3840480"/>
            <a:ext cx="72720" cy="148104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0" name="CustomShape 8"/>
          <p:cNvSpPr/>
          <p:nvPr/>
        </p:nvSpPr>
        <p:spPr>
          <a:xfrm>
            <a:off x="859680" y="3986640"/>
            <a:ext cx="22856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772bf"/>
                </a:solidFill>
                <a:latin typeface="NanumSquare"/>
              </a:rPr>
              <a:t>4.1 </a:t>
            </a:r>
            <a:r>
              <a:rPr b="1" lang="ko-KR" sz="1700" spc="-1" strike="noStrike">
                <a:solidFill>
                  <a:srgbClr val="2772bf"/>
                </a:solidFill>
                <a:latin typeface="NanumSquare"/>
              </a:rPr>
              <a:t>끝 후보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81" name="CustomShape 9"/>
          <p:cNvSpPr/>
          <p:nvPr/>
        </p:nvSpPr>
        <p:spPr>
          <a:xfrm>
            <a:off x="859680" y="4407480"/>
            <a:ext cx="2258280" cy="66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L×R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후보 중 행 차이가 최소인 쌍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기본보다 ≥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1px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개선되고 ≤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3px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일 때 교체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82" name="CustomShape 10"/>
          <p:cNvSpPr/>
          <p:nvPr/>
        </p:nvSpPr>
        <p:spPr>
          <a:xfrm>
            <a:off x="3401640" y="3840480"/>
            <a:ext cx="26056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3" name="CustomShape 11"/>
          <p:cNvSpPr/>
          <p:nvPr/>
        </p:nvSpPr>
        <p:spPr>
          <a:xfrm>
            <a:off x="3401640" y="3840480"/>
            <a:ext cx="72720" cy="148104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CustomShape 12"/>
          <p:cNvSpPr/>
          <p:nvPr/>
        </p:nvSpPr>
        <p:spPr>
          <a:xfrm>
            <a:off x="3602880" y="3986640"/>
            <a:ext cx="22856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349669"/>
                </a:solidFill>
                <a:latin typeface="NanumSquare"/>
              </a:rPr>
              <a:t>4.2 walk / ridge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85" name="CustomShape 13"/>
          <p:cNvSpPr/>
          <p:nvPr/>
        </p:nvSpPr>
        <p:spPr>
          <a:xfrm>
            <a:off x="3602880" y="4407480"/>
            <a:ext cx="22582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두 종류의 끝점을 조합하여 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L/R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행 차이가 더 작은 쌍만 채택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86" name="CustomShape 14"/>
          <p:cNvSpPr/>
          <p:nvPr/>
        </p:nvSpPr>
        <p:spPr>
          <a:xfrm>
            <a:off x="6144840" y="3840480"/>
            <a:ext cx="26056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7" name="CustomShape 15"/>
          <p:cNvSpPr/>
          <p:nvPr/>
        </p:nvSpPr>
        <p:spPr>
          <a:xfrm>
            <a:off x="6144840" y="3840480"/>
            <a:ext cx="72720" cy="148104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CustomShape 16"/>
          <p:cNvSpPr/>
          <p:nvPr/>
        </p:nvSpPr>
        <p:spPr>
          <a:xfrm>
            <a:off x="6346080" y="3986640"/>
            <a:ext cx="22856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1ea0be"/>
                </a:solidFill>
                <a:latin typeface="NanumSquare"/>
              </a:rPr>
              <a:t>4.3 </a:t>
            </a:r>
            <a:r>
              <a:rPr b="1" lang="ko-KR" sz="1700" spc="-1" strike="noStrike">
                <a:solidFill>
                  <a:srgbClr val="1ea0be"/>
                </a:solidFill>
                <a:latin typeface="NanumSquare"/>
              </a:rPr>
              <a:t>코팅 행 검사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89" name="CustomShape 17"/>
          <p:cNvSpPr/>
          <p:nvPr/>
        </p:nvSpPr>
        <p:spPr>
          <a:xfrm>
            <a:off x="6346080" y="4407480"/>
            <a:ext cx="2258280" cy="46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행 차이 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&gt;1.5px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이면 바깥 밝기 경계 후보로 이동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90" name="CustomShape 18"/>
          <p:cNvSpPr/>
          <p:nvPr/>
        </p:nvSpPr>
        <p:spPr>
          <a:xfrm>
            <a:off x="8888040" y="3840480"/>
            <a:ext cx="26056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1" name="CustomShape 19"/>
          <p:cNvSpPr/>
          <p:nvPr/>
        </p:nvSpPr>
        <p:spPr>
          <a:xfrm>
            <a:off x="8888040" y="3840480"/>
            <a:ext cx="72720" cy="148104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2" name="CustomShape 20"/>
          <p:cNvSpPr/>
          <p:nvPr/>
        </p:nvSpPr>
        <p:spPr>
          <a:xfrm>
            <a:off x="9089280" y="3986640"/>
            <a:ext cx="22856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ee902b"/>
                </a:solidFill>
                <a:latin typeface="NanumSquare"/>
              </a:rPr>
              <a:t>4.4 </a:t>
            </a:r>
            <a:r>
              <a:rPr b="1" lang="ko-KR" sz="1700" spc="-1" strike="noStrike">
                <a:solidFill>
                  <a:srgbClr val="ee902b"/>
                </a:solidFill>
                <a:latin typeface="NanumSquare"/>
              </a:rPr>
              <a:t>수평 팁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93" name="CustomShape 21"/>
          <p:cNvSpPr/>
          <p:nvPr/>
        </p:nvSpPr>
        <p:spPr>
          <a:xfrm>
            <a:off x="9089280" y="4407480"/>
            <a:ext cx="22582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행 차이를 쓸 수 없으므로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stereo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후보 길이가 실제 팁 길이에 가까운 조합 선택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(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선택에만 사용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4" name="CustomShape 22"/>
          <p:cNvSpPr/>
          <p:nvPr/>
        </p:nvSpPr>
        <p:spPr>
          <a:xfrm>
            <a:off x="777240" y="5806440"/>
            <a:ext cx="1060668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VETUS: 4.2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에서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3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개 팁 교체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· 4.3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에서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6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곳 중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4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곳 보정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· 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수평 프레임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000018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은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ridge–ridge 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선택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5" name="CustomShape 23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96" name="CustomShape 24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근거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debug/pair/README_KO.md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09  SEMANTICS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98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3.9~3.10 |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코팅 경계와 의미 라벨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99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각 윤곽선에서 밝기 변화가 가장 큰 지점을 코팅–금속 경계의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2D keypoint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로 측정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00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1" name="CustomShape 5"/>
          <p:cNvSpPr/>
          <p:nvPr/>
        </p:nvSpPr>
        <p:spPr>
          <a:xfrm>
            <a:off x="658440" y="1572840"/>
            <a:ext cx="2880000" cy="27428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02" name="Picture 6" descr="s3_9_coat_search.jpg"/>
          <p:cNvPicPr/>
          <p:nvPr/>
        </p:nvPicPr>
        <p:blipFill>
          <a:blip r:embed="rId1"/>
          <a:stretch/>
        </p:blipFill>
        <p:spPr>
          <a:xfrm>
            <a:off x="658440" y="1606680"/>
            <a:ext cx="2880000" cy="2675160"/>
          </a:xfrm>
          <a:prstGeom prst="rect">
            <a:avLst/>
          </a:prstGeom>
          <a:ln>
            <a:noFill/>
          </a:ln>
        </p:spPr>
      </p:pic>
      <p:sp>
        <p:nvSpPr>
          <p:cNvPr id="403" name="CustomShape 6"/>
          <p:cNvSpPr/>
          <p:nvPr/>
        </p:nvSpPr>
        <p:spPr>
          <a:xfrm>
            <a:off x="3703320" y="1572840"/>
            <a:ext cx="4663080" cy="27428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04" name="Picture 8" descr="s3_9_coat_profiles.jpg"/>
          <p:cNvPicPr/>
          <p:nvPr/>
        </p:nvPicPr>
        <p:blipFill>
          <a:blip r:embed="rId2"/>
          <a:stretch/>
        </p:blipFill>
        <p:spPr>
          <a:xfrm>
            <a:off x="3703320" y="2293200"/>
            <a:ext cx="4663080" cy="1302120"/>
          </a:xfrm>
          <a:prstGeom prst="rect">
            <a:avLst/>
          </a:prstGeom>
          <a:ln>
            <a:noFill/>
          </a:ln>
        </p:spPr>
      </p:pic>
      <p:sp>
        <p:nvSpPr>
          <p:cNvPr id="405" name="CustomShape 7"/>
          <p:cNvSpPr/>
          <p:nvPr/>
        </p:nvSpPr>
        <p:spPr>
          <a:xfrm>
            <a:off x="8549640" y="1572840"/>
            <a:ext cx="2880000" cy="27428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06" name="Picture 10" descr="s3_10_labels.jpg"/>
          <p:cNvPicPr/>
          <p:nvPr/>
        </p:nvPicPr>
        <p:blipFill>
          <a:blip r:embed="rId3"/>
          <a:stretch/>
        </p:blipFill>
        <p:spPr>
          <a:xfrm>
            <a:off x="8552880" y="1572840"/>
            <a:ext cx="2873880" cy="2742840"/>
          </a:xfrm>
          <a:prstGeom prst="rect">
            <a:avLst/>
          </a:prstGeom>
          <a:ln>
            <a:noFill/>
          </a:ln>
        </p:spPr>
      </p:pic>
      <p:sp>
        <p:nvSpPr>
          <p:cNvPr id="407" name="CustomShape 8"/>
          <p:cNvSpPr/>
          <p:nvPr/>
        </p:nvSpPr>
        <p:spPr>
          <a:xfrm>
            <a:off x="658440" y="4572000"/>
            <a:ext cx="255996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8" name="CustomShape 9"/>
          <p:cNvSpPr/>
          <p:nvPr/>
        </p:nvSpPr>
        <p:spPr>
          <a:xfrm>
            <a:off x="658440" y="4572000"/>
            <a:ext cx="72720" cy="132552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9" name="CustomShape 10"/>
          <p:cNvSpPr/>
          <p:nvPr/>
        </p:nvSpPr>
        <p:spPr>
          <a:xfrm>
            <a:off x="859680" y="4718160"/>
            <a:ext cx="223992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2772bf"/>
                </a:solidFill>
                <a:latin typeface="NanumSquare"/>
              </a:rPr>
              <a:t>① </a:t>
            </a:r>
            <a:r>
              <a:rPr b="1" lang="ko-KR" sz="1500" spc="-1" strike="noStrike">
                <a:solidFill>
                  <a:srgbClr val="2772bf"/>
                </a:solidFill>
                <a:latin typeface="NanumSquare"/>
              </a:rPr>
              <a:t>기대 위치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0" name="CustomShape 11"/>
          <p:cNvSpPr/>
          <p:nvPr/>
        </p:nvSpPr>
        <p:spPr>
          <a:xfrm>
            <a:off x="859680" y="5139000"/>
            <a:ext cx="221256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검출 끝점에서 투영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semantic vector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길이만큼 뒤로 이동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1" name="CustomShape 12"/>
          <p:cNvSpPr/>
          <p:nvPr/>
        </p:nvSpPr>
        <p:spPr>
          <a:xfrm>
            <a:off x="3401640" y="4572000"/>
            <a:ext cx="255996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CustomShape 13"/>
          <p:cNvSpPr/>
          <p:nvPr/>
        </p:nvSpPr>
        <p:spPr>
          <a:xfrm>
            <a:off x="3401640" y="4572000"/>
            <a:ext cx="72720" cy="132552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3" name="CustomShape 14"/>
          <p:cNvSpPr/>
          <p:nvPr/>
        </p:nvSpPr>
        <p:spPr>
          <a:xfrm>
            <a:off x="3602880" y="4718160"/>
            <a:ext cx="223992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ea0be"/>
                </a:solidFill>
                <a:latin typeface="NanumSquare"/>
              </a:rPr>
              <a:t>② </a:t>
            </a:r>
            <a:r>
              <a:rPr b="1" lang="ko-KR" sz="1500" spc="-1" strike="noStrike">
                <a:solidFill>
                  <a:srgbClr val="1ea0be"/>
                </a:solidFill>
                <a:latin typeface="NanumSquare"/>
              </a:rPr>
              <a:t>밝기 </a:t>
            </a:r>
            <a:r>
              <a:rPr b="1" lang="en-US" sz="1500" spc="-1" strike="noStrike">
                <a:solidFill>
                  <a:srgbClr val="1ea0be"/>
                </a:solidFill>
                <a:latin typeface="NanumSquare"/>
              </a:rPr>
              <a:t>profile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4" name="CustomShape 15"/>
          <p:cNvSpPr/>
          <p:nvPr/>
        </p:nvSpPr>
        <p:spPr>
          <a:xfrm>
            <a:off x="3602880" y="5139000"/>
            <a:ext cx="221256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윤곽을 따라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±12px,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안쪽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1.5/2.5/3.5px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세 줄 평균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5" name="CustomShape 16"/>
          <p:cNvSpPr/>
          <p:nvPr/>
        </p:nvSpPr>
        <p:spPr>
          <a:xfrm>
            <a:off x="6144840" y="4572000"/>
            <a:ext cx="255996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6" name="CustomShape 17"/>
          <p:cNvSpPr/>
          <p:nvPr/>
        </p:nvSpPr>
        <p:spPr>
          <a:xfrm>
            <a:off x="6144840" y="4572000"/>
            <a:ext cx="72720" cy="132552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7" name="CustomShape 18"/>
          <p:cNvSpPr/>
          <p:nvPr/>
        </p:nvSpPr>
        <p:spPr>
          <a:xfrm>
            <a:off x="6346080" y="4718160"/>
            <a:ext cx="223992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349669"/>
                </a:solidFill>
                <a:latin typeface="NanumSquare"/>
              </a:rPr>
              <a:t>③ </a:t>
            </a:r>
            <a:r>
              <a:rPr b="1" lang="ko-KR" sz="1500" spc="-1" strike="noStrike">
                <a:solidFill>
                  <a:srgbClr val="349669"/>
                </a:solidFill>
                <a:latin typeface="NanumSquare"/>
              </a:rPr>
              <a:t>경계 선택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8" name="CustomShape 19"/>
          <p:cNvSpPr/>
          <p:nvPr/>
        </p:nvSpPr>
        <p:spPr>
          <a:xfrm>
            <a:off x="6346080" y="5139000"/>
            <a:ext cx="221256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물체별 부호를 적용한 밝기 미분의 최대점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+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포물선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sub-pixel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9" name="CustomShape 20"/>
          <p:cNvSpPr/>
          <p:nvPr/>
        </p:nvSpPr>
        <p:spPr>
          <a:xfrm>
            <a:off x="8888040" y="4572000"/>
            <a:ext cx="255996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CustomShape 21"/>
          <p:cNvSpPr/>
          <p:nvPr/>
        </p:nvSpPr>
        <p:spPr>
          <a:xfrm>
            <a:off x="8888040" y="4572000"/>
            <a:ext cx="72720" cy="132552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1" name="CustomShape 22"/>
          <p:cNvSpPr/>
          <p:nvPr/>
        </p:nvSpPr>
        <p:spPr>
          <a:xfrm>
            <a:off x="9089280" y="4718160"/>
            <a:ext cx="2239920" cy="30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ee902b"/>
                </a:solidFill>
                <a:latin typeface="NanumSquare"/>
              </a:rPr>
              <a:t>④ </a:t>
            </a:r>
            <a:r>
              <a:rPr b="1" lang="ko-KR" sz="1500" spc="-1" strike="noStrike">
                <a:solidFill>
                  <a:srgbClr val="ee902b"/>
                </a:solidFill>
                <a:latin typeface="NanumSquare"/>
              </a:rPr>
              <a:t>의미 라벨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2" name="CustomShape 23"/>
          <p:cNvSpPr/>
          <p:nvPr/>
        </p:nvSpPr>
        <p:spPr>
          <a:xfrm>
            <a:off x="9089280" y="5139000"/>
            <a:ext cx="22125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6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점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profile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투영으로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upper/lower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결정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; VETUS GT 27/27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3" name="CustomShape 24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10  CODE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25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코드 구조와 호출 관계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426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25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줄의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orchestration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과 역할별 모듈 분리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7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8" name="CustomShape 5"/>
          <p:cNvSpPr/>
          <p:nvPr/>
        </p:nvSpPr>
        <p:spPr>
          <a:xfrm>
            <a:off x="685800" y="2240280"/>
            <a:ext cx="1874160" cy="1005480"/>
          </a:xfrm>
          <a:prstGeom prst="roundRect">
            <a:avLst>
              <a:gd name="adj" fmla="val 16667"/>
            </a:avLst>
          </a:prstGeom>
          <a:solidFill>
            <a:srgbClr val="121f31"/>
          </a:solidFill>
          <a:ln>
            <a:solidFill>
              <a:srgbClr val="121f31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CustomShape 6"/>
          <p:cNvSpPr/>
          <p:nvPr/>
        </p:nvSpPr>
        <p:spPr>
          <a:xfrm>
            <a:off x="758880" y="2477880"/>
            <a:ext cx="1728000" cy="53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 anchor="ctr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pipeline.py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detect_tips_2d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0" name="CustomShape 7"/>
          <p:cNvSpPr/>
          <p:nvPr/>
        </p:nvSpPr>
        <p:spPr>
          <a:xfrm>
            <a:off x="3154680" y="1627560"/>
            <a:ext cx="23313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1" name="CustomShape 8"/>
          <p:cNvSpPr/>
          <p:nvPr/>
        </p:nvSpPr>
        <p:spPr>
          <a:xfrm>
            <a:off x="3154680" y="1627560"/>
            <a:ext cx="72720" cy="127980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2" name="CustomShape 9"/>
          <p:cNvSpPr/>
          <p:nvPr/>
        </p:nvSpPr>
        <p:spPr>
          <a:xfrm>
            <a:off x="3355920" y="1774080"/>
            <a:ext cx="201132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772bf"/>
                </a:solidFill>
                <a:latin typeface="NanumSquare"/>
              </a:rPr>
              <a:t>camera.py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3" name="CustomShape 10"/>
          <p:cNvSpPr/>
          <p:nvPr/>
        </p:nvSpPr>
        <p:spPr>
          <a:xfrm>
            <a:off x="3355920" y="2194560"/>
            <a:ext cx="198396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카메라 모델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투영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4" name="CustomShape 11"/>
          <p:cNvSpPr/>
          <p:nvPr/>
        </p:nvSpPr>
        <p:spPr>
          <a:xfrm>
            <a:off x="5852160" y="1627560"/>
            <a:ext cx="23313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5" name="CustomShape 12"/>
          <p:cNvSpPr/>
          <p:nvPr/>
        </p:nvSpPr>
        <p:spPr>
          <a:xfrm>
            <a:off x="5852160" y="1627560"/>
            <a:ext cx="72720" cy="127980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6" name="CustomShape 13"/>
          <p:cNvSpPr/>
          <p:nvPr/>
        </p:nvSpPr>
        <p:spPr>
          <a:xfrm>
            <a:off x="6053400" y="1774080"/>
            <a:ext cx="201132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772bf"/>
                </a:solidFill>
                <a:latin typeface="NanumSquare"/>
              </a:rPr>
              <a:t>gs_render.py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7" name="CustomShape 14"/>
          <p:cNvSpPr/>
          <p:nvPr/>
        </p:nvSpPr>
        <p:spPr>
          <a:xfrm>
            <a:off x="6053400" y="2194560"/>
            <a:ext cx="198396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crop alpha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렌더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8" name="CustomShape 15"/>
          <p:cNvSpPr/>
          <p:nvPr/>
        </p:nvSpPr>
        <p:spPr>
          <a:xfrm>
            <a:off x="8549640" y="1627560"/>
            <a:ext cx="23313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9" name="CustomShape 16"/>
          <p:cNvSpPr/>
          <p:nvPr/>
        </p:nvSpPr>
        <p:spPr>
          <a:xfrm>
            <a:off x="8549640" y="1627560"/>
            <a:ext cx="72720" cy="127980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0" name="CustomShape 17"/>
          <p:cNvSpPr/>
          <p:nvPr/>
        </p:nvSpPr>
        <p:spPr>
          <a:xfrm>
            <a:off x="8750880" y="1774080"/>
            <a:ext cx="201132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349669"/>
                </a:solidFill>
                <a:latin typeface="NanumSquare"/>
              </a:rPr>
              <a:t>view.py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41" name="CustomShape 18"/>
          <p:cNvSpPr/>
          <p:nvPr/>
        </p:nvSpPr>
        <p:spPr>
          <a:xfrm>
            <a:off x="8750880" y="2194560"/>
            <a:ext cx="198396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3.1~3.10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단일 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view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2" name="CustomShape 19"/>
          <p:cNvSpPr/>
          <p:nvPr/>
        </p:nvSpPr>
        <p:spPr>
          <a:xfrm>
            <a:off x="3154680" y="3502080"/>
            <a:ext cx="23313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CustomShape 20"/>
          <p:cNvSpPr/>
          <p:nvPr/>
        </p:nvSpPr>
        <p:spPr>
          <a:xfrm>
            <a:off x="3154680" y="3502080"/>
            <a:ext cx="72720" cy="127980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CustomShape 21"/>
          <p:cNvSpPr/>
          <p:nvPr/>
        </p:nvSpPr>
        <p:spPr>
          <a:xfrm>
            <a:off x="3355920" y="3648600"/>
            <a:ext cx="2011320" cy="55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1" lang="en-US" sz="1600" spc="-1" strike="noStrike">
                <a:solidFill>
                  <a:srgbClr val="349669"/>
                </a:solidFill>
                <a:latin typeface="NanumSquare"/>
              </a:rPr>
              <a:t>alignment.py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349669"/>
                </a:solidFill>
                <a:latin typeface="NanumSquare"/>
              </a:rPr>
              <a:t>align_gpu.py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45" name="CustomShape 22"/>
          <p:cNvSpPr/>
          <p:nvPr/>
        </p:nvSpPr>
        <p:spPr>
          <a:xfrm>
            <a:off x="3355920" y="4069080"/>
            <a:ext cx="198396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3.4 CPU/GPU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정렬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6" name="CustomShape 23"/>
          <p:cNvSpPr/>
          <p:nvPr/>
        </p:nvSpPr>
        <p:spPr>
          <a:xfrm>
            <a:off x="5852160" y="3502080"/>
            <a:ext cx="23313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7" name="CustomShape 24"/>
          <p:cNvSpPr/>
          <p:nvPr/>
        </p:nvSpPr>
        <p:spPr>
          <a:xfrm>
            <a:off x="5852160" y="3502080"/>
            <a:ext cx="72720" cy="127980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CustomShape 25"/>
          <p:cNvSpPr/>
          <p:nvPr/>
        </p:nvSpPr>
        <p:spPr>
          <a:xfrm>
            <a:off x="6053400" y="3648600"/>
            <a:ext cx="201132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e902b"/>
                </a:solidFill>
                <a:latin typeface="NanumSquare"/>
              </a:rPr>
              <a:t>stereo.py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49" name="CustomShape 26"/>
          <p:cNvSpPr/>
          <p:nvPr/>
        </p:nvSpPr>
        <p:spPr>
          <a:xfrm>
            <a:off x="6053400" y="4069080"/>
            <a:ext cx="198396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4.1~4.4 L/R 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선택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0" name="CustomShape 27"/>
          <p:cNvSpPr/>
          <p:nvPr/>
        </p:nvSpPr>
        <p:spPr>
          <a:xfrm>
            <a:off x="8549640" y="3502080"/>
            <a:ext cx="233136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1" name="CustomShape 28"/>
          <p:cNvSpPr/>
          <p:nvPr/>
        </p:nvSpPr>
        <p:spPr>
          <a:xfrm>
            <a:off x="8549640" y="3502080"/>
            <a:ext cx="72720" cy="127980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CustomShape 29"/>
          <p:cNvSpPr/>
          <p:nvPr/>
        </p:nvSpPr>
        <p:spPr>
          <a:xfrm>
            <a:off x="8750880" y="3648600"/>
            <a:ext cx="2011320" cy="31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1ea0be"/>
                </a:solidFill>
                <a:latin typeface="NanumSquare"/>
              </a:rPr>
              <a:t>objects.py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53" name="CustomShape 30"/>
          <p:cNvSpPr/>
          <p:nvPr/>
        </p:nvSpPr>
        <p:spPr>
          <a:xfrm>
            <a:off x="8750880" y="4069080"/>
            <a:ext cx="198396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물체 </a:t>
            </a:r>
            <a:r>
              <a:rPr b="0" lang="en-US" sz="1300" spc="-1" strike="noStrike">
                <a:solidFill>
                  <a:srgbClr val="1f2a37"/>
                </a:solidFill>
                <a:latin typeface="NanumSquare"/>
              </a:rPr>
              <a:t>profile·</a:t>
            </a:r>
            <a:r>
              <a:rPr b="0" lang="ko-KR" sz="1300" spc="-1" strike="noStrike">
                <a:solidFill>
                  <a:srgbClr val="1f2a37"/>
                </a:solidFill>
                <a:latin typeface="NanumSquare"/>
              </a:rPr>
              <a:t>상수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4" name="CustomShape 31"/>
          <p:cNvSpPr/>
          <p:nvPr/>
        </p:nvSpPr>
        <p:spPr>
          <a:xfrm>
            <a:off x="936000" y="1975680"/>
            <a:ext cx="182844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200" spc="-1" strike="noStrike">
                <a:solidFill>
                  <a:srgbClr val="5c6978"/>
                </a:solidFill>
                <a:latin typeface="NanumSquare"/>
              </a:rPr>
              <a:t>역할별 모듈 호출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5" name="CustomShape 32"/>
          <p:cNvSpPr/>
          <p:nvPr/>
        </p:nvSpPr>
        <p:spPr>
          <a:xfrm>
            <a:off x="685800" y="3886200"/>
            <a:ext cx="1919880" cy="1965600"/>
          </a:xfrm>
          <a:prstGeom prst="roundRect">
            <a:avLst>
              <a:gd name="adj" fmla="val 16667"/>
            </a:avLst>
          </a:prstGeom>
          <a:solidFill>
            <a:srgbClr val="1c2633"/>
          </a:solidFill>
          <a:ln>
            <a:solidFill>
              <a:srgbClr val="1c2633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6" name="CustomShape 33"/>
          <p:cNvSpPr/>
          <p:nvPr/>
        </p:nvSpPr>
        <p:spPr>
          <a:xfrm>
            <a:off x="804600" y="4041720"/>
            <a:ext cx="1691280" cy="174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for side in ("L", "R"):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    </a:t>
            </a:r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vectors = project_vectors(...)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    </a:t>
            </a:r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alpha = render(...)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    </a:t>
            </a:r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states[side] = view_candidates(...)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chosen = choose_ends(states)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res = finish_view(...)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e0e8f0"/>
                </a:solidFill>
                <a:latin typeface="Noto Sans Mono CJK KR"/>
              </a:rPr>
              <a:t>return pair_2d(res, query, obj)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57" name="CustomShape 34"/>
          <p:cNvSpPr/>
          <p:nvPr/>
        </p:nvSpPr>
        <p:spPr>
          <a:xfrm>
            <a:off x="3154680" y="5650920"/>
            <a:ext cx="809208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실험 저장소의 약 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4,100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줄</a:t>
            </a:r>
            <a:r>
              <a:rPr b="1" lang="en-US" sz="1400" spc="-1" strike="noStrike">
                <a:solidFill>
                  <a:srgbClr val="121f31"/>
                </a:solidFill>
                <a:latin typeface="NanumSquare"/>
              </a:rPr>
              <a:t>/15</a:t>
            </a:r>
            <a:r>
              <a:rPr b="1" lang="ko-KR" sz="1400" spc="-1" strike="noStrike">
                <a:solidFill>
                  <a:srgbClr val="121f31"/>
                </a:solidFill>
                <a:latin typeface="NanumSquare"/>
              </a:rPr>
              <a:t>개 폴더에서 실제 실행 경로만 패키지로 정리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8" name="CustomShape 35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15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11  OBJECTS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0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하나의 알고리즘</a:t>
            </a: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,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물체별 </a:t>
            </a: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profile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로 일반화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461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VETUS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에서 정한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px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상수를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6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점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profile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의 물리 크기 비율로 변환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62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463" name="Table 5"/>
          <p:cNvGraphicFramePr/>
          <p:nvPr/>
        </p:nvGraphicFramePr>
        <p:xfrm>
          <a:off x="713160" y="1673280"/>
          <a:ext cx="6491880" cy="4434480"/>
        </p:xfrm>
        <a:graphic>
          <a:graphicData uri="http://schemas.openxmlformats.org/drawingml/2006/table">
            <a:tbl>
              <a:tblPr/>
              <a:tblGrid>
                <a:gridCol w="2466720"/>
                <a:gridCol w="2012400"/>
                <a:gridCol w="2012760"/>
              </a:tblGrid>
              <a:tr h="55404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ko-KR" sz="14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항목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VETUS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Pink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</a:tr>
              <a:tr h="55404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형상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곧은 팁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짧고 꺾인 팁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  <a:tr h="55404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길이 비율 </a:t>
                      </a: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sL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1.000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0.573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04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폭 비율 </a:t>
                      </a: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sW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1.000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0.672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  <a:tr h="55404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모델 윤곽 창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15.0 mm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8.6 mm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404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코팅 밝기 방향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+1: </a:t>
                      </a: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어두움→밝음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−</a:t>
                      </a: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1: </a:t>
                      </a: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밝음→어두움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  <a:tr h="55404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sub-pixel clip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없음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±0.5 px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20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정상 </a:t>
                      </a: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pose </a:t>
                      </a:r>
                      <a:r>
                        <a:rPr b="0" lang="ko-KR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출력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14/14 tips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10/10 tips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464" name="CustomShape 6"/>
          <p:cNvSpPr/>
          <p:nvPr/>
        </p:nvSpPr>
        <p:spPr>
          <a:xfrm>
            <a:off x="7543800" y="1783080"/>
            <a:ext cx="379440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5" name="CustomShape 7"/>
          <p:cNvSpPr/>
          <p:nvPr/>
        </p:nvSpPr>
        <p:spPr>
          <a:xfrm>
            <a:off x="7543800" y="1783080"/>
            <a:ext cx="72720" cy="150840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CustomShape 8"/>
          <p:cNvSpPr/>
          <p:nvPr/>
        </p:nvSpPr>
        <p:spPr>
          <a:xfrm>
            <a:off x="7745040" y="1929240"/>
            <a:ext cx="347436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800" spc="-1" strike="noStrike">
                <a:solidFill>
                  <a:srgbClr val="2772bf"/>
                </a:solidFill>
                <a:latin typeface="NanumSquare"/>
              </a:rPr>
              <a:t>길이 관련 상수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7" name="CustomShape 9"/>
          <p:cNvSpPr/>
          <p:nvPr/>
        </p:nvSpPr>
        <p:spPr>
          <a:xfrm>
            <a:off x="7745040" y="2350080"/>
            <a:ext cx="3447000" cy="75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REF × sL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seed, chain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길이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, ridge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범위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, coat window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68" name="CustomShape 10"/>
          <p:cNvSpPr/>
          <p:nvPr/>
        </p:nvSpPr>
        <p:spPr>
          <a:xfrm>
            <a:off x="7543800" y="3520440"/>
            <a:ext cx="379440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9" name="CustomShape 11"/>
          <p:cNvSpPr/>
          <p:nvPr/>
        </p:nvSpPr>
        <p:spPr>
          <a:xfrm>
            <a:off x="7543800" y="3520440"/>
            <a:ext cx="72720" cy="150840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0" name="CustomShape 12"/>
          <p:cNvSpPr/>
          <p:nvPr/>
        </p:nvSpPr>
        <p:spPr>
          <a:xfrm>
            <a:off x="7745040" y="3666600"/>
            <a:ext cx="347436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800" spc="-1" strike="noStrike">
                <a:solidFill>
                  <a:srgbClr val="1ea0be"/>
                </a:solidFill>
                <a:latin typeface="NanumSquare"/>
              </a:rPr>
              <a:t>폭 관련 상수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1" name="CustomShape 13"/>
          <p:cNvSpPr/>
          <p:nvPr/>
        </p:nvSpPr>
        <p:spPr>
          <a:xfrm>
            <a:off x="7745040" y="4087440"/>
            <a:ext cx="3447000" cy="53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REF × sW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윤곽 복도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, </a:t>
            </a:r>
            <a:r>
              <a:rPr b="0" lang="ko-KR" sz="1500" spc="-1" strike="noStrike">
                <a:solidFill>
                  <a:srgbClr val="1f2a37"/>
                </a:solidFill>
                <a:latin typeface="NanumSquare"/>
              </a:rPr>
              <a:t>코팅 </a:t>
            </a:r>
            <a:r>
              <a:rPr b="0" lang="en-US" sz="1500" spc="-1" strike="noStrike">
                <a:solidFill>
                  <a:srgbClr val="1f2a37"/>
                </a:solidFill>
                <a:latin typeface="NanumSquare"/>
              </a:rPr>
              <a:t>inset, ridge half-width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2" name="CustomShape 14"/>
          <p:cNvSpPr/>
          <p:nvPr/>
        </p:nvSpPr>
        <p:spPr>
          <a:xfrm>
            <a:off x="7589520" y="5376600"/>
            <a:ext cx="3702960" cy="52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500" spc="-1" strike="noStrike">
                <a:solidFill>
                  <a:srgbClr val="349669"/>
                </a:solidFill>
                <a:latin typeface="NanumSquare"/>
              </a:rPr>
              <a:t>설정 파일만 교체</a:t>
            </a:r>
            <a:r>
              <a:rPr b="1" lang="en-US" sz="1500" spc="-1" strike="noStrike">
                <a:solidFill>
                  <a:srgbClr val="349669"/>
                </a:solidFill>
                <a:latin typeface="NanumSquare"/>
              </a:rPr>
              <a:t>: configs/objects/&lt;name&gt;.json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3" name="CustomShape 15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4" name="CustomShape 16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코드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tip2d/objects.py, configs/objects/*.json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12  PERFORMANCE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76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처리 속도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477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스테레오 한 쌍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, alpha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렌더 포함 중앙값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; pose/SAM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및 이미지 로딩 제외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8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479" name="Table 5"/>
          <p:cNvGraphicFramePr/>
          <p:nvPr/>
        </p:nvGraphicFramePr>
        <p:xfrm>
          <a:off x="713160" y="1691640"/>
          <a:ext cx="5486040" cy="2011320"/>
        </p:xfrm>
        <a:graphic>
          <a:graphicData uri="http://schemas.openxmlformats.org/drawingml/2006/table">
            <a:tbl>
              <a:tblPr/>
              <a:tblGrid>
                <a:gridCol w="1536120"/>
                <a:gridCol w="1316520"/>
                <a:gridCol w="1316520"/>
                <a:gridCol w="1316880"/>
              </a:tblGrid>
              <a:tr h="67032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ko-KR" sz="16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물체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CPU </a:t>
                      </a:r>
                      <a:r>
                        <a:rPr b="1" lang="ko-KR" sz="16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정렬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GPU </a:t>
                      </a:r>
                      <a:r>
                        <a:rPr b="1" lang="ko-KR" sz="16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정렬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GPU </a:t>
                      </a:r>
                      <a:r>
                        <a:rPr b="1" lang="ko-KR" sz="1600" spc="-1" strike="noStrike">
                          <a:solidFill>
                            <a:srgbClr val="ffffff"/>
                          </a:solidFill>
                          <a:latin typeface="NanumSquare"/>
                        </a:rPr>
                        <a:t>처리율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</a:tr>
              <a:tr h="67032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VETUS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95.9 ms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47.2 ms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≈</a:t>
                      </a: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21 FPS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  <a:tr h="670680">
                <a:tc>
                  <a:txBody>
                    <a:bodyPr lIns="54720" rIns="5472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Pink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74.4 ms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36.1 ms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≈</a:t>
                      </a:r>
                      <a:r>
                        <a:rPr b="0" lang="en-US" sz="1600" spc="-1" strike="noStrike">
                          <a:solidFill>
                            <a:srgbClr val="1f2a37"/>
                          </a:solidFill>
                          <a:latin typeface="NanumSquare"/>
                        </a:rPr>
                        <a:t>28 FPS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54720" marR="54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0" name="CustomShape 6"/>
          <p:cNvSpPr/>
          <p:nvPr/>
        </p:nvSpPr>
        <p:spPr>
          <a:xfrm>
            <a:off x="713160" y="3977640"/>
            <a:ext cx="548604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1" name="CustomShape 7"/>
          <p:cNvSpPr/>
          <p:nvPr/>
        </p:nvSpPr>
        <p:spPr>
          <a:xfrm>
            <a:off x="713160" y="3977640"/>
            <a:ext cx="72720" cy="164556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2" name="CustomShape 8"/>
          <p:cNvSpPr/>
          <p:nvPr/>
        </p:nvSpPr>
        <p:spPr>
          <a:xfrm>
            <a:off x="914400" y="4123800"/>
            <a:ext cx="5166000" cy="36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349669"/>
                </a:solidFill>
                <a:latin typeface="NanumSquare"/>
              </a:rPr>
              <a:t>GPU </a:t>
            </a:r>
            <a:r>
              <a:rPr b="1" lang="ko-KR" sz="1900" spc="-1" strike="noStrike">
                <a:solidFill>
                  <a:srgbClr val="349669"/>
                </a:solidFill>
                <a:latin typeface="NanumSquare"/>
              </a:rPr>
              <a:t>정렬 효과 </a:t>
            </a:r>
            <a:r>
              <a:rPr b="1" lang="en-US" sz="1900" spc="-1" strike="noStrike">
                <a:solidFill>
                  <a:srgbClr val="349669"/>
                </a:solidFill>
                <a:latin typeface="NanumSquare"/>
              </a:rPr>
              <a:t>(VETUS </a:t>
            </a:r>
            <a:r>
              <a:rPr b="1" lang="ko-KR" sz="1900" spc="-1" strike="noStrike">
                <a:solidFill>
                  <a:srgbClr val="349669"/>
                </a:solidFill>
                <a:latin typeface="NanumSquare"/>
              </a:rPr>
              <a:t>상세 벤치마크</a:t>
            </a:r>
            <a:r>
              <a:rPr b="1" lang="en-US" sz="1900" spc="-1" strike="noStrike">
                <a:solidFill>
                  <a:srgbClr val="349669"/>
                </a:solidFill>
                <a:latin typeface="NanumSquare"/>
              </a:rPr>
              <a:t>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83" name="CustomShape 9"/>
          <p:cNvSpPr/>
          <p:nvPr/>
        </p:nvSpPr>
        <p:spPr>
          <a:xfrm>
            <a:off x="914400" y="4544640"/>
            <a:ext cx="5138640" cy="80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정렬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view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당 약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25ms →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약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1.7ms</a:t>
            </a:r>
            <a:endParaRPr b="0" lang="en-US" sz="1600" spc="-1" strike="noStrike">
              <a:latin typeface="Arial"/>
            </a:endParaRPr>
          </a:p>
          <a:p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팁 단계 전체 </a:t>
            </a: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93.7ms → 44.7ms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a37"/>
                </a:solidFill>
                <a:latin typeface="NanumSquare"/>
              </a:rPr>
              <a:t>CPU/GPU </a:t>
            </a:r>
            <a:r>
              <a:rPr b="0" lang="ko-KR" sz="1600" spc="-1" strike="noStrike">
                <a:solidFill>
                  <a:srgbClr val="1f2a37"/>
                </a:solidFill>
                <a:latin typeface="NanumSquare"/>
              </a:rPr>
              <a:t>최종 결과 동일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84" name="CustomShape 10"/>
          <p:cNvSpPr/>
          <p:nvPr/>
        </p:nvSpPr>
        <p:spPr>
          <a:xfrm>
            <a:off x="6720840" y="1691640"/>
            <a:ext cx="448020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121f31"/>
                </a:solidFill>
                <a:latin typeface="NanumSquare"/>
              </a:rPr>
              <a:t>VETUS runtime breakdown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5" name="CustomShape 11"/>
          <p:cNvSpPr/>
          <p:nvPr/>
        </p:nvSpPr>
        <p:spPr>
          <a:xfrm>
            <a:off x="6629400" y="2240280"/>
            <a:ext cx="123408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CPU total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6" name="CustomShape 12"/>
          <p:cNvSpPr/>
          <p:nvPr/>
        </p:nvSpPr>
        <p:spPr>
          <a:xfrm>
            <a:off x="8046720" y="2240280"/>
            <a:ext cx="2827080" cy="29232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7" name="CustomShape 13"/>
          <p:cNvSpPr/>
          <p:nvPr/>
        </p:nvSpPr>
        <p:spPr>
          <a:xfrm>
            <a:off x="10919880" y="2231280"/>
            <a:ext cx="73116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772bf"/>
                </a:solidFill>
                <a:latin typeface="NanumSquare"/>
              </a:rPr>
              <a:t>93.7 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8" name="CustomShape 14"/>
          <p:cNvSpPr/>
          <p:nvPr/>
        </p:nvSpPr>
        <p:spPr>
          <a:xfrm>
            <a:off x="6629400" y="3017520"/>
            <a:ext cx="123408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GPU total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9" name="CustomShape 15"/>
          <p:cNvSpPr/>
          <p:nvPr/>
        </p:nvSpPr>
        <p:spPr>
          <a:xfrm>
            <a:off x="8046720" y="3017520"/>
            <a:ext cx="1348560" cy="29232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0" name="CustomShape 16"/>
          <p:cNvSpPr/>
          <p:nvPr/>
        </p:nvSpPr>
        <p:spPr>
          <a:xfrm>
            <a:off x="9441360" y="3008520"/>
            <a:ext cx="73116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49669"/>
                </a:solidFill>
                <a:latin typeface="NanumSquare"/>
              </a:rPr>
              <a:t>44.7 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1" name="CustomShape 17"/>
          <p:cNvSpPr/>
          <p:nvPr/>
        </p:nvSpPr>
        <p:spPr>
          <a:xfrm>
            <a:off x="6629400" y="3794760"/>
            <a:ext cx="123408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GPU align L+R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2" name="CustomShape 18"/>
          <p:cNvSpPr/>
          <p:nvPr/>
        </p:nvSpPr>
        <p:spPr>
          <a:xfrm>
            <a:off x="8046720" y="3794760"/>
            <a:ext cx="102240" cy="29232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3" name="CustomShape 19"/>
          <p:cNvSpPr/>
          <p:nvPr/>
        </p:nvSpPr>
        <p:spPr>
          <a:xfrm>
            <a:off x="8195040" y="3785760"/>
            <a:ext cx="73116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ee902b"/>
                </a:solidFill>
                <a:latin typeface="NanumSquare"/>
              </a:rPr>
              <a:t>3.4 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4" name="CustomShape 20"/>
          <p:cNvSpPr/>
          <p:nvPr/>
        </p:nvSpPr>
        <p:spPr>
          <a:xfrm>
            <a:off x="6629400" y="4572000"/>
            <a:ext cx="123408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1" lang="en-US" sz="1200" spc="-1" strike="noStrike">
                <a:solidFill>
                  <a:srgbClr val="1f2a37"/>
                </a:solidFill>
                <a:latin typeface="NanumSquare"/>
              </a:rPr>
              <a:t>alpha L+R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5" name="CustomShape 21"/>
          <p:cNvSpPr/>
          <p:nvPr/>
        </p:nvSpPr>
        <p:spPr>
          <a:xfrm>
            <a:off x="8046720" y="4572000"/>
            <a:ext cx="60120" cy="29232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6" name="CustomShape 22"/>
          <p:cNvSpPr/>
          <p:nvPr/>
        </p:nvSpPr>
        <p:spPr>
          <a:xfrm>
            <a:off x="8152920" y="4563000"/>
            <a:ext cx="73116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ea0be"/>
                </a:solidFill>
                <a:latin typeface="NanumSquare"/>
              </a:rPr>
              <a:t>2.0 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7" name="CustomShape 23"/>
          <p:cNvSpPr/>
          <p:nvPr/>
        </p:nvSpPr>
        <p:spPr>
          <a:xfrm>
            <a:off x="6720840" y="5486400"/>
            <a:ext cx="4754520" cy="46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ko-KR" sz="1300" spc="-1" strike="noStrike">
                <a:solidFill>
                  <a:srgbClr val="ca4343"/>
                </a:solidFill>
                <a:latin typeface="NanumSquare"/>
              </a:rPr>
              <a:t>현재 남은 병목</a:t>
            </a:r>
            <a:r>
              <a:rPr b="1" lang="en-US" sz="1300" spc="-1" strike="noStrike">
                <a:solidFill>
                  <a:srgbClr val="ca4343"/>
                </a:solidFill>
                <a:latin typeface="NanumSquare"/>
              </a:rPr>
              <a:t>: view</a:t>
            </a:r>
            <a:r>
              <a:rPr b="1" lang="ko-KR" sz="1300" spc="-1" strike="noStrike">
                <a:solidFill>
                  <a:srgbClr val="ca4343"/>
                </a:solidFill>
                <a:latin typeface="NanumSquare"/>
              </a:rPr>
              <a:t>당 약 </a:t>
            </a:r>
            <a:r>
              <a:rPr b="1" lang="en-US" sz="1300" spc="-1" strike="noStrike">
                <a:solidFill>
                  <a:srgbClr val="ca4343"/>
                </a:solidFill>
                <a:latin typeface="NanumSquare"/>
              </a:rPr>
              <a:t>17ms</a:t>
            </a:r>
            <a:r>
              <a:rPr b="1" lang="ko-KR" sz="1300" spc="-1" strike="noStrike">
                <a:solidFill>
                  <a:srgbClr val="ca4343"/>
                </a:solidFill>
                <a:latin typeface="NanumSquare"/>
              </a:rPr>
              <a:t>의 </a:t>
            </a:r>
            <a:r>
              <a:rPr b="1" lang="en-US" sz="1300" spc="-1" strike="noStrike">
                <a:solidFill>
                  <a:srgbClr val="ca4343"/>
                </a:solidFill>
                <a:latin typeface="NanumSquare"/>
              </a:rPr>
              <a:t>CPU </a:t>
            </a:r>
            <a:r>
              <a:rPr b="1" lang="ko-KR" sz="1300" spc="-1" strike="noStrike">
                <a:solidFill>
                  <a:srgbClr val="ca4343"/>
                </a:solidFill>
                <a:latin typeface="NanumSquare"/>
              </a:rPr>
              <a:t>처리</a:t>
            </a:r>
            <a:r>
              <a:rPr b="1" lang="en-US" sz="1300" spc="-1" strike="noStrike">
                <a:solidFill>
                  <a:srgbClr val="ca4343"/>
                </a:solidFill>
                <a:latin typeface="NanumSquare"/>
              </a:rPr>
              <a:t>, </a:t>
            </a:r>
            <a:r>
              <a:rPr b="1" lang="ko-KR" sz="1300" spc="-1" strike="noStrike">
                <a:solidFill>
                  <a:srgbClr val="ca4343"/>
                </a:solidFill>
                <a:latin typeface="NanumSquare"/>
              </a:rPr>
              <a:t>특히 </a:t>
            </a:r>
            <a:r>
              <a:rPr b="1" lang="en-US" sz="1300" spc="-1" strike="noStrike">
                <a:solidFill>
                  <a:srgbClr val="ca4343"/>
                </a:solidFill>
                <a:latin typeface="NanumSquare"/>
              </a:rPr>
              <a:t>Python chain tracing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8" name="CustomShape 24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9" name="CustomShape 25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장비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RTX A6000, i9-10850K |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정리된 패키지 결과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outputs/*.json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13  RESULTS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01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VETUS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결과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02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7 stereo frames,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클릭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GT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기반 예비 평가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3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4" name="CustomShape 5"/>
          <p:cNvSpPr/>
          <p:nvPr/>
        </p:nvSpPr>
        <p:spPr>
          <a:xfrm>
            <a:off x="594360" y="1572840"/>
            <a:ext cx="6811920" cy="406872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05" name="Picture 6" descr="result_2d.jpg"/>
          <p:cNvPicPr/>
          <p:nvPr/>
        </p:nvPicPr>
        <p:blipFill>
          <a:blip r:embed="rId1"/>
          <a:stretch/>
        </p:blipFill>
        <p:spPr>
          <a:xfrm>
            <a:off x="594360" y="1991880"/>
            <a:ext cx="6811920" cy="3230640"/>
          </a:xfrm>
          <a:prstGeom prst="rect">
            <a:avLst/>
          </a:prstGeom>
          <a:ln>
            <a:noFill/>
          </a:ln>
        </p:spPr>
      </p:pic>
      <p:sp>
        <p:nvSpPr>
          <p:cNvPr id="506" name="CustomShape 6"/>
          <p:cNvSpPr/>
          <p:nvPr/>
        </p:nvSpPr>
        <p:spPr>
          <a:xfrm>
            <a:off x="7635240" y="1572840"/>
            <a:ext cx="3748680" cy="224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7" name="CustomShape 7"/>
          <p:cNvSpPr/>
          <p:nvPr/>
        </p:nvSpPr>
        <p:spPr>
          <a:xfrm>
            <a:off x="7635240" y="1572840"/>
            <a:ext cx="72720" cy="224316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8" name="CustomShape 8"/>
          <p:cNvSpPr/>
          <p:nvPr/>
        </p:nvSpPr>
        <p:spPr>
          <a:xfrm>
            <a:off x="7836480" y="1719000"/>
            <a:ext cx="342864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800" spc="-1" strike="noStrike">
                <a:solidFill>
                  <a:srgbClr val="2772bf"/>
                </a:solidFill>
                <a:latin typeface="NanumSquare"/>
              </a:rPr>
              <a:t>끝점 </a:t>
            </a:r>
            <a:r>
              <a:rPr b="1" lang="en-US" sz="1800" spc="-1" strike="noStrike">
                <a:solidFill>
                  <a:srgbClr val="2772bf"/>
                </a:solidFill>
                <a:latin typeface="NanumSquare"/>
              </a:rPr>
              <a:t>endpoint </a:t>
            </a:r>
            <a:r>
              <a:rPr b="1" lang="ko-KR" sz="1800" spc="-1" strike="noStrike">
                <a:solidFill>
                  <a:srgbClr val="2772bf"/>
                </a:solidFill>
                <a:latin typeface="NanumSquare"/>
              </a:rPr>
              <a:t>오차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9" name="CustomShape 9"/>
          <p:cNvSpPr/>
          <p:nvPr/>
        </p:nvSpPr>
        <p:spPr>
          <a:xfrm>
            <a:off x="7853400" y="2053800"/>
            <a:ext cx="3401280" cy="156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검출 끝점과 사람이 클릭한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GT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사이의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Euclidean pixel distance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n = 26 view-tip</a:t>
            </a:r>
            <a:endParaRPr b="0" lang="en-US" sz="1400" spc="-1" strike="noStrike">
              <a:latin typeface="Arial"/>
            </a:endParaRPr>
          </a:p>
          <a:p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중앙값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0.97px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p90 2.07px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최대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2.48px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0" name="CustomShape 10"/>
          <p:cNvSpPr/>
          <p:nvPr/>
        </p:nvSpPr>
        <p:spPr>
          <a:xfrm>
            <a:off x="7627320" y="4320000"/>
            <a:ext cx="374868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1" name="CustomShape 11"/>
          <p:cNvSpPr/>
          <p:nvPr/>
        </p:nvSpPr>
        <p:spPr>
          <a:xfrm>
            <a:off x="7627320" y="4320000"/>
            <a:ext cx="72720" cy="187416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2" name="CustomShape 12"/>
          <p:cNvSpPr/>
          <p:nvPr/>
        </p:nvSpPr>
        <p:spPr>
          <a:xfrm>
            <a:off x="7848000" y="3960000"/>
            <a:ext cx="342864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800" spc="-1" strike="noStrike">
                <a:solidFill>
                  <a:srgbClr val="1ea0be"/>
                </a:solidFill>
                <a:latin typeface="NanumSquare"/>
              </a:rPr>
              <a:t>코팅 경계 오차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3" name="CustomShape 13"/>
          <p:cNvSpPr/>
          <p:nvPr/>
        </p:nvSpPr>
        <p:spPr>
          <a:xfrm>
            <a:off x="7830720" y="4464000"/>
            <a:ext cx="3401280" cy="156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검출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coat point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와 사람이 클릭한 코팅 경계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GT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사이의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pixel distance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n = 55 points</a:t>
            </a:r>
            <a:endParaRPr b="0" lang="en-US" sz="1400" spc="-1" strike="noStrike">
              <a:latin typeface="Arial"/>
            </a:endParaRPr>
          </a:p>
          <a:p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중앙값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1.13px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p90 2.45px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최대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3.63px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4" name="CustomShape 14"/>
          <p:cNvSpPr/>
          <p:nvPr/>
        </p:nvSpPr>
        <p:spPr>
          <a:xfrm>
            <a:off x="731520" y="5879520"/>
            <a:ext cx="675648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upper/lower label: GT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가 있는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27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건 모두 일치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· 7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개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stereo frame 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모두 </a:t>
            </a:r>
            <a:r>
              <a:rPr b="1" lang="en-US" sz="1400" spc="-1" strike="noStrike">
                <a:solidFill>
                  <a:srgbClr val="349669"/>
                </a:solidFill>
                <a:latin typeface="NanumSquare"/>
              </a:rPr>
              <a:t>2D </a:t>
            </a:r>
            <a:r>
              <a:rPr b="1" lang="ko-KR" sz="1400" spc="-1" strike="noStrike">
                <a:solidFill>
                  <a:srgbClr val="349669"/>
                </a:solidFill>
                <a:latin typeface="NanumSquare"/>
              </a:rPr>
              <a:t>결과 출력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5" name="CustomShape 15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16" name="CustomShape 16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흰 마름모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endpoint ·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원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: coating boundary ·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자주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x/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흰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+: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클릭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GT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14  RESULTS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8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Pink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결과와 </a:t>
            </a:r>
            <a:r>
              <a:rPr b="1" lang="en-US" sz="2700" spc="-1" strike="noStrike">
                <a:solidFill>
                  <a:srgbClr val="121f31"/>
                </a:solidFill>
                <a:latin typeface="NanumSquare"/>
              </a:rPr>
              <a:t>pose </a:t>
            </a: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실패 감지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19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정상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pose 5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프레임은 정밀 측정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,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뒤집힌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2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프레임은 정렬 신뢰도로 거부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0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1" name="CustomShape 5"/>
          <p:cNvSpPr/>
          <p:nvPr/>
        </p:nvSpPr>
        <p:spPr>
          <a:xfrm>
            <a:off x="594360" y="1554480"/>
            <a:ext cx="6903360" cy="324576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22" name="Picture 6" descr="000013.jpg"/>
          <p:cNvPicPr/>
          <p:nvPr/>
        </p:nvPicPr>
        <p:blipFill>
          <a:blip r:embed="rId1"/>
          <a:stretch/>
        </p:blipFill>
        <p:spPr>
          <a:xfrm>
            <a:off x="1166040" y="1554480"/>
            <a:ext cx="5759640" cy="3245760"/>
          </a:xfrm>
          <a:prstGeom prst="rect">
            <a:avLst/>
          </a:prstGeom>
          <a:ln>
            <a:noFill/>
          </a:ln>
        </p:spPr>
      </p:pic>
      <p:sp>
        <p:nvSpPr>
          <p:cNvPr id="523" name="CustomShape 6"/>
          <p:cNvSpPr/>
          <p:nvPr/>
        </p:nvSpPr>
        <p:spPr>
          <a:xfrm>
            <a:off x="7726680" y="1554480"/>
            <a:ext cx="3794400" cy="324576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24" name="Picture 8" descr="pink_pose_flip_alignment.jpg"/>
          <p:cNvPicPr/>
          <p:nvPr/>
        </p:nvPicPr>
        <p:blipFill>
          <a:blip r:embed="rId2"/>
          <a:stretch/>
        </p:blipFill>
        <p:spPr>
          <a:xfrm>
            <a:off x="7726680" y="1878840"/>
            <a:ext cx="3794400" cy="2597040"/>
          </a:xfrm>
          <a:prstGeom prst="rect">
            <a:avLst/>
          </a:prstGeom>
          <a:ln>
            <a:noFill/>
          </a:ln>
        </p:spPr>
      </p:pic>
      <p:sp>
        <p:nvSpPr>
          <p:cNvPr id="525" name="CustomShape 7"/>
          <p:cNvSpPr/>
          <p:nvPr/>
        </p:nvSpPr>
        <p:spPr>
          <a:xfrm>
            <a:off x="685800" y="5010840"/>
            <a:ext cx="223992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2900" spc="-1" strike="noStrike">
                <a:solidFill>
                  <a:srgbClr val="cd497e"/>
                </a:solidFill>
                <a:latin typeface="NanumSquare"/>
              </a:rPr>
              <a:t>0.81 px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526" name="CustomShape 8"/>
          <p:cNvSpPr/>
          <p:nvPr/>
        </p:nvSpPr>
        <p:spPr>
          <a:xfrm>
            <a:off x="685800" y="5513760"/>
            <a:ext cx="223992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endpoint–GT </a:t>
            </a:r>
            <a:r>
              <a:rPr b="0" lang="ko-KR" sz="1200" spc="-1" strike="noStrike">
                <a:solidFill>
                  <a:srgbClr val="5c6978"/>
                </a:solidFill>
                <a:latin typeface="NanumSquare"/>
              </a:rPr>
              <a:t>중앙값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7" name="CustomShape 9"/>
          <p:cNvSpPr/>
          <p:nvPr/>
        </p:nvSpPr>
        <p:spPr>
          <a:xfrm>
            <a:off x="2880360" y="5010840"/>
            <a:ext cx="223992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2900" spc="-1" strike="noStrike">
                <a:solidFill>
                  <a:srgbClr val="2772bf"/>
                </a:solidFill>
                <a:latin typeface="NanumSquare"/>
              </a:rPr>
              <a:t>1.40 px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528" name="CustomShape 10"/>
          <p:cNvSpPr/>
          <p:nvPr/>
        </p:nvSpPr>
        <p:spPr>
          <a:xfrm>
            <a:off x="2880360" y="5513760"/>
            <a:ext cx="223992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endpoint–GT p90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9" name="CustomShape 11"/>
          <p:cNvSpPr/>
          <p:nvPr/>
        </p:nvSpPr>
        <p:spPr>
          <a:xfrm>
            <a:off x="5074920" y="5010840"/>
            <a:ext cx="223992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1" lang="en-US" sz="2900" spc="-1" strike="noStrike">
                <a:solidFill>
                  <a:srgbClr val="ee902b"/>
                </a:solidFill>
                <a:latin typeface="NanumSquare"/>
              </a:rPr>
              <a:t>4.06 px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530" name="CustomShape 12"/>
          <p:cNvSpPr/>
          <p:nvPr/>
        </p:nvSpPr>
        <p:spPr>
          <a:xfrm>
            <a:off x="5074920" y="5513760"/>
            <a:ext cx="2239920" cy="25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c6978"/>
                </a:solidFill>
                <a:latin typeface="NanumSquare"/>
              </a:rPr>
              <a:t>endpoint–GT </a:t>
            </a:r>
            <a:r>
              <a:rPr b="0" lang="ko-KR" sz="1200" spc="-1" strike="noStrike">
                <a:solidFill>
                  <a:srgbClr val="5c6978"/>
                </a:solidFill>
                <a:latin typeface="NanumSquare"/>
              </a:rPr>
              <a:t>최대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1" name="CustomShape 13"/>
          <p:cNvSpPr/>
          <p:nvPr/>
        </p:nvSpPr>
        <p:spPr>
          <a:xfrm>
            <a:off x="7635240" y="4892040"/>
            <a:ext cx="374868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2" name="CustomShape 14"/>
          <p:cNvSpPr/>
          <p:nvPr/>
        </p:nvSpPr>
        <p:spPr>
          <a:xfrm>
            <a:off x="7635240" y="4892040"/>
            <a:ext cx="72720" cy="1325520"/>
          </a:xfrm>
          <a:prstGeom prst="rect">
            <a:avLst/>
          </a:prstGeom>
          <a:solidFill>
            <a:srgbClr val="ca4343"/>
          </a:solidFill>
          <a:ln>
            <a:solidFill>
              <a:srgbClr val="ca4343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3" name="CustomShape 15"/>
          <p:cNvSpPr/>
          <p:nvPr/>
        </p:nvSpPr>
        <p:spPr>
          <a:xfrm>
            <a:off x="7836480" y="5038200"/>
            <a:ext cx="34286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700" spc="-1" strike="noStrike">
                <a:solidFill>
                  <a:srgbClr val="ca4343"/>
                </a:solidFill>
                <a:latin typeface="NanumSquare"/>
              </a:rPr>
              <a:t>거부된 </a:t>
            </a:r>
            <a:r>
              <a:rPr b="1" lang="en-US" sz="1700" spc="-1" strike="noStrike">
                <a:solidFill>
                  <a:srgbClr val="ca4343"/>
                </a:solidFill>
                <a:latin typeface="NanumSquare"/>
              </a:rPr>
              <a:t>08·11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4" name="CustomShape 16"/>
          <p:cNvSpPr/>
          <p:nvPr/>
        </p:nvSpPr>
        <p:spPr>
          <a:xfrm>
            <a:off x="7836480" y="5459040"/>
            <a:ext cx="34012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6D pose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의 앞뒤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/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팔 대응 오류</a:t>
            </a:r>
            <a:endParaRPr b="0" lang="en-US" sz="1200" spc="-1" strike="noStrike">
              <a:latin typeface="Arial"/>
            </a:endParaRPr>
          </a:p>
          <a:p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정렬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offset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이 탐색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grid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끝에 걸림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그대로 쓰면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endpoint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가 수십 </a:t>
            </a:r>
            <a:r>
              <a:rPr b="0" lang="en-US" sz="1200" spc="-1" strike="noStrike">
                <a:solidFill>
                  <a:srgbClr val="1f2a37"/>
                </a:solidFill>
                <a:latin typeface="NanumSquare"/>
              </a:rPr>
              <a:t>px </a:t>
            </a:r>
            <a:r>
              <a:rPr b="0" lang="ko-KR" sz="1200" spc="-1" strike="noStrike">
                <a:solidFill>
                  <a:srgbClr val="1f2a37"/>
                </a:solidFill>
                <a:latin typeface="NanumSquare"/>
              </a:rPr>
              <a:t>벗어남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5" name="CustomShape 17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19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36" name="CustomShape 18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정상 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pose 5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프레임</a:t>
            </a:r>
            <a:r>
              <a:rPr b="0" lang="en-US" sz="800" spc="-1" strike="noStrike">
                <a:solidFill>
                  <a:srgbClr val="5c6978"/>
                </a:solidFill>
                <a:latin typeface="NanumSquare"/>
              </a:rPr>
              <a:t>, 20 view-tip endpoint </a:t>
            </a:r>
            <a:r>
              <a:rPr b="0" lang="ko-KR" sz="800" spc="-1" strike="noStrike">
                <a:solidFill>
                  <a:srgbClr val="5c6978"/>
                </a:solidFill>
                <a:latin typeface="NanumSquare"/>
              </a:rPr>
              <a:t>기준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15  LIMITATIONS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8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2700" spc="-1" strike="noStrike">
                <a:solidFill>
                  <a:srgbClr val="121f31"/>
                </a:solidFill>
                <a:latin typeface="NanumSquare"/>
              </a:rPr>
              <a:t>현재 상태와 한계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39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이번 보고 범위는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L/R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영상의 </a:t>
            </a:r>
            <a:r>
              <a:rPr b="0" lang="en-US" sz="1300" spc="-1" strike="noStrike">
                <a:solidFill>
                  <a:srgbClr val="5c6978"/>
                </a:solidFill>
                <a:latin typeface="NanumSquare"/>
              </a:rPr>
              <a:t>2D semantic keypoint </a:t>
            </a:r>
            <a:r>
              <a:rPr b="0" lang="ko-KR" sz="1300" spc="-1" strike="noStrike">
                <a:solidFill>
                  <a:srgbClr val="5c6978"/>
                </a:solidFill>
                <a:latin typeface="NanumSquare"/>
              </a:rPr>
              <a:t>측정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0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1" name="CustomShape 5"/>
          <p:cNvSpPr/>
          <p:nvPr/>
        </p:nvSpPr>
        <p:spPr>
          <a:xfrm>
            <a:off x="685800" y="169164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2" name="CustomShape 6"/>
          <p:cNvSpPr/>
          <p:nvPr/>
        </p:nvSpPr>
        <p:spPr>
          <a:xfrm>
            <a:off x="685800" y="1691640"/>
            <a:ext cx="72720" cy="1919880"/>
          </a:xfrm>
          <a:prstGeom prst="rect">
            <a:avLst/>
          </a:prstGeom>
          <a:solidFill>
            <a:srgbClr val="ca4343"/>
          </a:solidFill>
          <a:ln>
            <a:solidFill>
              <a:srgbClr val="ca4343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3" name="CustomShape 7"/>
          <p:cNvSpPr/>
          <p:nvPr/>
        </p:nvSpPr>
        <p:spPr>
          <a:xfrm>
            <a:off x="887040" y="1837800"/>
            <a:ext cx="315432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ca4343"/>
                </a:solidFill>
                <a:latin typeface="NanumSquare"/>
              </a:rPr>
              <a:t>1. Pose </a:t>
            </a:r>
            <a:r>
              <a:rPr b="1" lang="ko-KR" sz="1800" spc="-1" strike="noStrike">
                <a:solidFill>
                  <a:srgbClr val="ca4343"/>
                </a:solidFill>
                <a:latin typeface="NanumSquare"/>
              </a:rPr>
              <a:t>뒤집힘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4" name="CustomShape 8"/>
          <p:cNvSpPr/>
          <p:nvPr/>
        </p:nvSpPr>
        <p:spPr>
          <a:xfrm>
            <a:off x="887040" y="2258640"/>
            <a:ext cx="3126960" cy="92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꺾인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pink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는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align_at_grid_limit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로 감지 가능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곧은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VETUS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는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upper/lower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이름만 바뀔 수 있어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pose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단계의 앞뒤 판별 필요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5" name="CustomShape 9"/>
          <p:cNvSpPr/>
          <p:nvPr/>
        </p:nvSpPr>
        <p:spPr>
          <a:xfrm>
            <a:off x="4370760" y="169164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6" name="CustomShape 10"/>
          <p:cNvSpPr/>
          <p:nvPr/>
        </p:nvSpPr>
        <p:spPr>
          <a:xfrm>
            <a:off x="4370760" y="1691640"/>
            <a:ext cx="72720" cy="1919880"/>
          </a:xfrm>
          <a:prstGeom prst="rect">
            <a:avLst/>
          </a:prstGeom>
          <a:solidFill>
            <a:srgbClr val="cd497e"/>
          </a:solidFill>
          <a:ln>
            <a:solidFill>
              <a:srgbClr val="cd497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7" name="CustomShape 11"/>
          <p:cNvSpPr/>
          <p:nvPr/>
        </p:nvSpPr>
        <p:spPr>
          <a:xfrm>
            <a:off x="4572000" y="1837800"/>
            <a:ext cx="315432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cd497e"/>
                </a:solidFill>
                <a:latin typeface="NanumSquare"/>
              </a:rPr>
              <a:t>2. </a:t>
            </a:r>
            <a:r>
              <a:rPr b="1" lang="ko-KR" sz="1800" spc="-1" strike="noStrike">
                <a:solidFill>
                  <a:srgbClr val="cd497e"/>
                </a:solidFill>
                <a:latin typeface="NanumSquare"/>
              </a:rPr>
              <a:t>흐린 코팅 경계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8" name="CustomShape 12"/>
          <p:cNvSpPr/>
          <p:nvPr/>
        </p:nvSpPr>
        <p:spPr>
          <a:xfrm>
            <a:off x="4572000" y="2258640"/>
            <a:ext cx="3126960" cy="71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Pink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는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L/R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이 서로 다른 밝기 최대점을 잡을 수 있음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향후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1D brightness profile matching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이 후보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9" name="CustomShape 13"/>
          <p:cNvSpPr/>
          <p:nvPr/>
        </p:nvSpPr>
        <p:spPr>
          <a:xfrm>
            <a:off x="8055720" y="169164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0" name="CustomShape 14"/>
          <p:cNvSpPr/>
          <p:nvPr/>
        </p:nvSpPr>
        <p:spPr>
          <a:xfrm>
            <a:off x="8055720" y="1691640"/>
            <a:ext cx="72720" cy="1919880"/>
          </a:xfrm>
          <a:prstGeom prst="rect">
            <a:avLst/>
          </a:prstGeom>
          <a:solidFill>
            <a:srgbClr val="ee902b"/>
          </a:solidFill>
          <a:ln>
            <a:solidFill>
              <a:srgbClr val="ee902b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8256960" y="1837800"/>
            <a:ext cx="315432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ee902b"/>
                </a:solidFill>
                <a:latin typeface="NanumSquare"/>
              </a:rPr>
              <a:t>3. </a:t>
            </a:r>
            <a:r>
              <a:rPr b="1" lang="ko-KR" sz="1800" spc="-1" strike="noStrike">
                <a:solidFill>
                  <a:srgbClr val="ee902b"/>
                </a:solidFill>
                <a:latin typeface="NanumSquare"/>
              </a:rPr>
              <a:t>현재 출력 범위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8256960" y="2258640"/>
            <a:ext cx="3126960" cy="71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L/R endpoint, upper/lower coating point,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윤곽선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, coating→end 2D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방향과 품질 플래그를 출력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3" name="CustomShape 17"/>
          <p:cNvSpPr/>
          <p:nvPr/>
        </p:nvSpPr>
        <p:spPr>
          <a:xfrm>
            <a:off x="685800" y="397764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4" name="CustomShape 18"/>
          <p:cNvSpPr/>
          <p:nvPr/>
        </p:nvSpPr>
        <p:spPr>
          <a:xfrm>
            <a:off x="685800" y="3977640"/>
            <a:ext cx="72720" cy="1508400"/>
          </a:xfrm>
          <a:prstGeom prst="rect">
            <a:avLst/>
          </a:prstGeom>
          <a:solidFill>
            <a:srgbClr val="2772bf"/>
          </a:solidFill>
          <a:ln>
            <a:solidFill>
              <a:srgbClr val="2772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5" name="CustomShape 19"/>
          <p:cNvSpPr/>
          <p:nvPr/>
        </p:nvSpPr>
        <p:spPr>
          <a:xfrm>
            <a:off x="887040" y="4123800"/>
            <a:ext cx="315432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772bf"/>
                </a:solidFill>
                <a:latin typeface="NanumSquare"/>
              </a:rPr>
              <a:t>4. </a:t>
            </a:r>
            <a:r>
              <a:rPr b="1" lang="ko-KR" sz="1800" spc="-1" strike="noStrike">
                <a:solidFill>
                  <a:srgbClr val="2772bf"/>
                </a:solidFill>
                <a:latin typeface="NanumSquare"/>
              </a:rPr>
              <a:t>규칙 기반 측정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6" name="CustomShape 20"/>
          <p:cNvSpPr/>
          <p:nvPr/>
        </p:nvSpPr>
        <p:spPr>
          <a:xfrm>
            <a:off x="887040" y="4544640"/>
            <a:ext cx="3126960" cy="50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상수 변화에 민감한 일부 팁이 존재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세 번째 물체로 일반화 확인 필요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7" name="CustomShape 21"/>
          <p:cNvSpPr/>
          <p:nvPr/>
        </p:nvSpPr>
        <p:spPr>
          <a:xfrm>
            <a:off x="4370760" y="397764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8" name="CustomShape 22"/>
          <p:cNvSpPr/>
          <p:nvPr/>
        </p:nvSpPr>
        <p:spPr>
          <a:xfrm>
            <a:off x="4370760" y="3977640"/>
            <a:ext cx="72720" cy="1508400"/>
          </a:xfrm>
          <a:prstGeom prst="rect">
            <a:avLst/>
          </a:prstGeom>
          <a:solidFill>
            <a:srgbClr val="349669"/>
          </a:solidFill>
          <a:ln>
            <a:solidFill>
              <a:srgbClr val="34966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9" name="CustomShape 23"/>
          <p:cNvSpPr/>
          <p:nvPr/>
        </p:nvSpPr>
        <p:spPr>
          <a:xfrm>
            <a:off x="4572000" y="4123800"/>
            <a:ext cx="315432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349669"/>
                </a:solidFill>
                <a:latin typeface="NanumSquare"/>
              </a:rPr>
              <a:t>5. </a:t>
            </a:r>
            <a:r>
              <a:rPr b="1" lang="ko-KR" sz="1800" spc="-1" strike="noStrike">
                <a:solidFill>
                  <a:srgbClr val="349669"/>
                </a:solidFill>
                <a:latin typeface="NanumSquare"/>
              </a:rPr>
              <a:t>속도 병목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0" name="CustomShape 24"/>
          <p:cNvSpPr/>
          <p:nvPr/>
        </p:nvSpPr>
        <p:spPr>
          <a:xfrm>
            <a:off x="4572000" y="4544640"/>
            <a:ext cx="3126960" cy="50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GPU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정렬은 해결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남은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CPU chain tracing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벡터화와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L/R view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병렬화 가능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61" name="CustomShape 25"/>
          <p:cNvSpPr/>
          <p:nvPr/>
        </p:nvSpPr>
        <p:spPr>
          <a:xfrm>
            <a:off x="8055720" y="397764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2" name="CustomShape 26"/>
          <p:cNvSpPr/>
          <p:nvPr/>
        </p:nvSpPr>
        <p:spPr>
          <a:xfrm>
            <a:off x="8055720" y="3977640"/>
            <a:ext cx="72720" cy="1508400"/>
          </a:xfrm>
          <a:prstGeom prst="rect">
            <a:avLst/>
          </a:prstGeom>
          <a:solidFill>
            <a:srgbClr val="1ea0be"/>
          </a:solidFill>
          <a:ln>
            <a:solidFill>
              <a:srgbClr val="1ea0b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3" name="CustomShape 27"/>
          <p:cNvSpPr/>
          <p:nvPr/>
        </p:nvSpPr>
        <p:spPr>
          <a:xfrm>
            <a:off x="8256960" y="4123800"/>
            <a:ext cx="315432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ea0be"/>
                </a:solidFill>
                <a:latin typeface="NanumSquare"/>
              </a:rPr>
              <a:t>6. </a:t>
            </a:r>
            <a:r>
              <a:rPr b="1" lang="ko-KR" sz="1800" spc="-1" strike="noStrike">
                <a:solidFill>
                  <a:srgbClr val="1ea0be"/>
                </a:solidFill>
                <a:latin typeface="NanumSquare"/>
              </a:rPr>
              <a:t>표본 규모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4" name="CustomShape 28"/>
          <p:cNvSpPr/>
          <p:nvPr/>
        </p:nvSpPr>
        <p:spPr>
          <a:xfrm>
            <a:off x="8256960" y="4544640"/>
            <a:ext cx="3126960" cy="71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VETUS 7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프레임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, pink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정상 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5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프레임의 예비 평가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. 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더 다양한 거리</a:t>
            </a:r>
            <a:r>
              <a:rPr b="0" lang="en-US" sz="1400" spc="-1" strike="noStrike">
                <a:solidFill>
                  <a:srgbClr val="1f2a37"/>
                </a:solidFill>
                <a:latin typeface="NanumSquare"/>
              </a:rPr>
              <a:t>·</a:t>
            </a:r>
            <a:r>
              <a:rPr b="0" lang="ko-KR" sz="1400" spc="-1" strike="noStrike">
                <a:solidFill>
                  <a:srgbClr val="1f2a37"/>
                </a:solidFill>
                <a:latin typeface="NanumSquare"/>
              </a:rPr>
              <a:t>자세 데이터 필요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65" name="CustomShape 29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20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f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CustomShape 1"/>
          <p:cNvSpPr/>
          <p:nvPr/>
        </p:nvSpPr>
        <p:spPr>
          <a:xfrm>
            <a:off x="685800" y="548640"/>
            <a:ext cx="2194200" cy="24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ea0be"/>
                </a:solidFill>
                <a:latin typeface="NanumSquare"/>
              </a:rPr>
              <a:t>TAKEAWAY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7" name="CustomShape 2"/>
          <p:cNvSpPr/>
          <p:nvPr/>
        </p:nvSpPr>
        <p:spPr>
          <a:xfrm>
            <a:off x="685800" y="1078920"/>
            <a:ext cx="6491880" cy="104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1" lang="en-US" sz="3200" spc="-1" strike="noStrike">
                <a:solidFill>
                  <a:srgbClr val="ffffff"/>
                </a:solidFill>
                <a:latin typeface="NanumSquare"/>
              </a:rPr>
              <a:t>Pose</a:t>
            </a:r>
            <a:r>
              <a:rPr b="1" lang="ko-KR" sz="3200" spc="-1" strike="noStrike">
                <a:solidFill>
                  <a:srgbClr val="ffffff"/>
                </a:solidFill>
                <a:latin typeface="NanumSquare"/>
              </a:rPr>
              <a:t>를 </a:t>
            </a:r>
            <a:r>
              <a:rPr b="1" lang="en-US" sz="3200" spc="-1" strike="noStrike">
                <a:solidFill>
                  <a:srgbClr val="ffffff"/>
                </a:solidFill>
                <a:latin typeface="NanumSquare"/>
              </a:rPr>
              <a:t>keypoint</a:t>
            </a:r>
            <a:r>
              <a:rPr b="1" lang="ko-KR" sz="3200" spc="-1" strike="noStrike">
                <a:solidFill>
                  <a:srgbClr val="ffffff"/>
                </a:solidFill>
                <a:latin typeface="NanumSquare"/>
              </a:rPr>
              <a:t>로 쓰지 않고</a:t>
            </a:r>
            <a:r>
              <a:rPr b="1" lang="en-US" sz="3200" spc="-1" strike="noStrike">
                <a:solidFill>
                  <a:srgbClr val="ffffff"/>
                </a:solidFill>
                <a:latin typeface="NanumSquare"/>
              </a:rPr>
              <a:t>,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ko-KR" sz="3200" spc="-1" strike="noStrike">
                <a:solidFill>
                  <a:srgbClr val="ffffff"/>
                </a:solidFill>
                <a:latin typeface="NanumSquare"/>
              </a:rPr>
              <a:t>영상에서 다시 측정한다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68" name="CustomShape 3"/>
          <p:cNvSpPr/>
          <p:nvPr/>
        </p:nvSpPr>
        <p:spPr>
          <a:xfrm>
            <a:off x="822960" y="2697480"/>
            <a:ext cx="5988960" cy="246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18360" tIns="18360" bIns="18360">
            <a:spAutoFit/>
          </a:bodyPr>
          <a:p>
            <a:pPr>
              <a:lnSpc>
                <a:spcPct val="108000"/>
              </a:lnSpc>
              <a:spcAft>
                <a:spcPts val="700"/>
              </a:spcAft>
            </a:pP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•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3DGS semantic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정의를 영상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edge·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밝기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·stereo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제약과 결합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•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VETUS/pink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를 하나의 알고리즘과 물체별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profile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로 처리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•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GPU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기준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36~47ms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의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2D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팁 측정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•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클릭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GT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대비 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endpoint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중앙값</a:t>
            </a: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: VETUS 0.97px, pink 0.81px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b="0" lang="en-US" sz="1800" spc="-1" strike="noStrike">
                <a:solidFill>
                  <a:srgbClr val="e0e8f0"/>
                </a:solidFill>
                <a:latin typeface="NanumSquare"/>
              </a:rPr>
              <a:t>• </a:t>
            </a:r>
            <a:r>
              <a:rPr b="0" lang="ko-KR" sz="1800" spc="-1" strike="noStrike">
                <a:solidFill>
                  <a:srgbClr val="e0e8f0"/>
                </a:solidFill>
                <a:latin typeface="NanumSquare"/>
              </a:rPr>
              <a:t>실패를 숨기지 않고 정렬 신뢰도 플래그로 검출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9" name="CustomShape 4"/>
          <p:cNvSpPr/>
          <p:nvPr/>
        </p:nvSpPr>
        <p:spPr>
          <a:xfrm>
            <a:off x="7223760" y="1051560"/>
            <a:ext cx="4297320" cy="4434480"/>
          </a:xfrm>
          <a:prstGeom prst="roundRect">
            <a:avLst>
              <a:gd name="adj" fmla="val 16667"/>
            </a:avLst>
          </a:prstGeom>
          <a:solidFill>
            <a:srgbClr val="1b2d44"/>
          </a:solidFill>
          <a:ln>
            <a:solidFill>
              <a:srgbClr val="374b62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0" name="CustomShape 5"/>
          <p:cNvSpPr/>
          <p:nvPr/>
        </p:nvSpPr>
        <p:spPr>
          <a:xfrm>
            <a:off x="7543800" y="1417320"/>
            <a:ext cx="1005480" cy="3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800" spc="-1" strike="noStrike">
                <a:solidFill>
                  <a:srgbClr val="1ea0be"/>
                </a:solidFill>
                <a:latin typeface="NanumSquare"/>
              </a:rPr>
              <a:t>실행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1" name="CustomShape 6"/>
          <p:cNvSpPr/>
          <p:nvPr/>
        </p:nvSpPr>
        <p:spPr>
          <a:xfrm>
            <a:off x="7543800" y="1901880"/>
            <a:ext cx="3657240" cy="165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python scripts/run_pose_results.py \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  </a:t>
            </a:r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--object VETUStweezers \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  </a:t>
            </a:r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--pose_run &lt;pose result&gt; \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  </a:t>
            </a:r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--query_dir &lt;query&gt; \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  </a:t>
            </a:r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--align gpu</a:t>
            </a:r>
            <a:endParaRPr b="0" lang="en-US" sz="1300" spc="-1" strike="noStrike">
              <a:latin typeface="Arial"/>
            </a:endParaRPr>
          </a:p>
          <a:p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python scripts/check_reference.py \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  </a:t>
            </a:r>
            <a:r>
              <a:rPr b="0" lang="en-US" sz="1300" spc="-1" strike="noStrike">
                <a:solidFill>
                  <a:srgbClr val="e1ebf5"/>
                </a:solidFill>
                <a:latin typeface="Noto Sans Mono CJK KR"/>
              </a:rPr>
              <a:t>outputs/VETUStweezers_gpu.json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2" name="CustomShape 7"/>
          <p:cNvSpPr/>
          <p:nvPr/>
        </p:nvSpPr>
        <p:spPr>
          <a:xfrm>
            <a:off x="7543800" y="4224600"/>
            <a:ext cx="1096920" cy="31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ko-KR" sz="1600" spc="-1" strike="noStrike">
                <a:solidFill>
                  <a:srgbClr val="1ea0be"/>
                </a:solidFill>
                <a:latin typeface="NanumSquare"/>
              </a:rPr>
              <a:t>핵심 파일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3" name="CustomShape 8"/>
          <p:cNvSpPr/>
          <p:nvPr/>
        </p:nvSpPr>
        <p:spPr>
          <a:xfrm>
            <a:off x="7543800" y="4590360"/>
            <a:ext cx="3565800" cy="53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pipeline.py · view.py · stereo.py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NanumSquare"/>
              </a:rPr>
              <a:t>alignment.py · objects.py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74" name="CustomShape 9"/>
          <p:cNvSpPr/>
          <p:nvPr/>
        </p:nvSpPr>
        <p:spPr>
          <a:xfrm>
            <a:off x="685800" y="5989320"/>
            <a:ext cx="10835280" cy="43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CustomShape 1"/>
          <p:cNvSpPr/>
          <p:nvPr/>
        </p:nvSpPr>
        <p:spPr>
          <a:xfrm>
            <a:off x="530280" y="219600"/>
            <a:ext cx="2285640" cy="2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772bf"/>
                </a:solidFill>
                <a:latin typeface="NanumSquare"/>
              </a:rPr>
              <a:t>APPENDIX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6" name="CustomShape 2"/>
          <p:cNvSpPr/>
          <p:nvPr/>
        </p:nvSpPr>
        <p:spPr>
          <a:xfrm>
            <a:off x="530280" y="502920"/>
            <a:ext cx="10972440" cy="48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t>Appendix | docs/figures 자료 읽는 법</a:t>
            </a:r>
          </a:p>
        </p:txBody>
      </p:sp>
      <p:sp>
        <p:nvSpPr>
          <p:cNvPr id="577" name="CustomShape 3"/>
          <p:cNvSpPr/>
          <p:nvPr/>
        </p:nvSpPr>
        <p:spPr>
          <a:xfrm>
            <a:off x="548640" y="1024200"/>
            <a:ext cx="1088100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t>README.md와 docs/PIPELINE.md에서 참조하는 현재 저장소의 단계별 그림</a:t>
            </a:r>
          </a:p>
        </p:txBody>
      </p:sp>
      <p:sp>
        <p:nvSpPr>
          <p:cNvPr id="578" name="CustomShape 4"/>
          <p:cNvSpPr/>
          <p:nvPr/>
        </p:nvSpPr>
        <p:spPr>
          <a:xfrm>
            <a:off x="530280" y="1353240"/>
            <a:ext cx="11109600" cy="22680"/>
          </a:xfrm>
          <a:prstGeom prst="rect">
            <a:avLst/>
          </a:prstGeom>
          <a:solidFill>
            <a:srgbClr val="c5cdd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graphicFrame>
        <p:nvGraphicFramePr>
          <p:cNvPr id="579" name="Table 5"/>
          <p:cNvGraphicFramePr/>
          <p:nvPr/>
        </p:nvGraphicFramePr>
        <p:xfrm>
          <a:off x="685800" y="1664280"/>
          <a:ext cx="7543440" cy="4343040"/>
        </p:xfrm>
        <a:graphic>
          <a:graphicData uri="http://schemas.openxmlformats.org/drawingml/2006/table">
            <a:tbl>
              <a:tblPr/>
              <a:tblGrid>
                <a:gridCol w="2262960"/>
                <a:gridCol w="2112120"/>
                <a:gridCol w="3168360"/>
              </a:tblGrid>
              <a:tr h="723600"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Noto Sans CJK KR"/>
                        </a:rPr>
                        <a:t>파일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Noto Sans CJK KR"/>
                        </a:rPr>
                        <a:t>단계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Noto Sans CJK KR"/>
                        </a:rPr>
                        <a:t>그림에서 확인할 내용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21f31"/>
                    </a:solidFill>
                  </a:tcPr>
                </a:tc>
              </a:tr>
              <a:tr h="723600"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s3_1_projection.jpg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s3_2_render_edges.jpg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s3_3_model_edges.jpg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s3_4_{alignment,cost}.jpg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850">
                          <a:solidFill>
                            <a:srgbClr val="14202C"/>
                          </a:solidFill>
                          <a:latin typeface="Noto Sans CJK KR"/>
                        </a:rPr>
                        <a:t>3.1~3.4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900">
                          <a:solidFill>
                            <a:srgbClr val="14202C"/>
                          </a:solidFill>
                          <a:latin typeface="Noto Sans CJK KR"/>
                        </a:rPr>
                        <a:t>semantic 투영, alpha/Canny, 모델 윤곽, 닮음 변환 정렬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  <a:tr h="723600"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s3_5_normal_search.jpg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s3_6_chain_walk.jpg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s3_7_candidates.jpg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s3_8_ridge.jpg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850">
                          <a:solidFill>
                            <a:srgbClr val="14202C"/>
                          </a:solidFill>
                          <a:latin typeface="Noto Sans CJK KR"/>
                        </a:rPr>
                        <a:t>3.5~3.8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900">
                          <a:solidFill>
                            <a:srgbClr val="14202C"/>
                          </a:solidFill>
                          <a:latin typeface="Noto Sans CJK KR"/>
                        </a:rPr>
                        <a:t>법선 edge 탐색, Canny 사슬, 끝점 후보, ridge 연장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600"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s3_9_{coat_search,coat_profiles}.jpg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s3_10_labels.jpg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850">
                          <a:solidFill>
                            <a:srgbClr val="14202C"/>
                          </a:solidFill>
                          <a:latin typeface="Noto Sans CJK KR"/>
                        </a:rPr>
                        <a:t>3.9~3.10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900">
                          <a:solidFill>
                            <a:srgbClr val="14202C"/>
                          </a:solidFill>
                          <a:latin typeface="Noto Sans CJK KR"/>
                        </a:rPr>
                        <a:t>코팅 경계 탐색/profile과 upper·lower 라벨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  <a:tr h="723600"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s4_1_stereo_end_choice.jpg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s4_2_select_pair.jpg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s4_3_row_check.jpg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s4_4_length_rule.jpg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850">
                          <a:solidFill>
                            <a:srgbClr val="14202C"/>
                          </a:solidFill>
                          <a:latin typeface="Noto Sans CJK KR"/>
                        </a:rPr>
                        <a:t>4.1~4.4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900">
                          <a:solidFill>
                            <a:srgbClr val="14202C"/>
                          </a:solidFill>
                          <a:latin typeface="Noto Sans CJK KR"/>
                        </a:rPr>
                        <a:t>L/R 행 기반 후보 선택, 코팅점 검사, 수평 팁 길이 규칙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5040"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scene_stereo_rows.jpg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result_2d.jpg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750">
                          <a:solidFill>
                            <a:srgbClr val="14202C"/>
                          </a:solidFill>
                          <a:latin typeface="Noto Sans CJK KR"/>
                        </a:rPr>
                        <a:t>pink_pose_flip_alignment.jpg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850">
                          <a:solidFill>
                            <a:srgbClr val="14202C"/>
                          </a:solidFill>
                          <a:latin typeface="Noto Sans CJK KR"/>
                        </a:rPr>
                        <a:t>장면·결과</a:t>
                      </a:r>
                    </a:p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850">
                          <a:solidFill>
                            <a:srgbClr val="14202C"/>
                          </a:solidFill>
                          <a:latin typeface="Noto Sans CJK KR"/>
                        </a:rPr>
                        <a:t>·실패 사례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lIns="54720" rIns="54720" tIns="36360" bIns="36360" anchor="ctr">
                      <a:noAutofit/>
                    </a:bodyPr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0" sz="900">
                          <a:solidFill>
                            <a:srgbClr val="14202C"/>
                          </a:solidFill>
                          <a:latin typeface="Noto Sans CJK KR"/>
                        </a:rPr>
                        <a:t>전체 stereo 행, 최종 2D 출력, pink pose 뒤집힘 사례</a:t>
                      </a:r>
                    </a:p>
                  </a:txBody>
                  <a:tcPr marL="63500" marR="63500" anchor="ctr" marT="25400" marB="25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80" name="CustomShape 6"/>
          <p:cNvSpPr/>
          <p:nvPr/>
        </p:nvSpPr>
        <p:spPr>
          <a:xfrm>
            <a:off x="8458200" y="1664280"/>
            <a:ext cx="3108600" cy="4343040"/>
          </a:xfrm>
          <a:prstGeom prst="rect">
            <a:avLst/>
          </a:prstGeom>
          <a:solidFill>
            <a:srgbClr val="fafbfc"/>
          </a:solidFill>
          <a:ln>
            <a:solidFill>
              <a:srgbClr val="c5cdd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82" name="CustomShape 7"/>
          <p:cNvSpPr/>
          <p:nvPr/>
        </p:nvSpPr>
        <p:spPr>
          <a:xfrm>
            <a:off x="11475720" y="6492240"/>
            <a:ext cx="319680" cy="2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c6978"/>
                </a:solidFill>
                <a:latin typeface="NanumSquare"/>
              </a:rPr>
              <a:t>22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83" name="CustomShape 8"/>
          <p:cNvSpPr/>
          <p:nvPr/>
        </p:nvSpPr>
        <p:spPr>
          <a:xfrm>
            <a:off x="530280" y="6455520"/>
            <a:ext cx="10515240" cy="19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>
            <a:spAutoFit/>
          </a:bodyPr>
          <a:p>
            <a:r>
              <a:rPr sz="900"/>
              <a:t>경로: semantic-tip2d/docs/figures/  ·  전체 19개 JPG</a:t>
            </a:r>
          </a:p>
        </p:txBody>
      </p:sp>
      <p:pic>
        <p:nvPicPr>
          <p:cNvPr id="584" name="Picture 58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04040"/>
            <a:ext cx="3108600" cy="38635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Project WIRobotics</dc:creator>
  <dc:description>generated using python-pptx</dc:description>
  <dc:language>ko-KR</dc:language>
  <cp:lastModifiedBy/>
  <dcterms:modified xsi:type="dcterms:W3CDTF">2026-10-30T22:07:37Z</dcterms:modified>
  <cp:revision>6</cp:revision>
  <dc:subject>VETUS/pink tweezer semantic keypoint detection</dc:subject>
  <dc:title>Semantic Tip2D 알고리즘 설명 매뉴얼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